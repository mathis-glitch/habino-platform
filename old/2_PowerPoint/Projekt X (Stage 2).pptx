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47" d="100"/>
          <a:sy n="47" d="100"/>
        </p:scale>
        <p:origin x="6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om Mekbeb" userId="e293a0d2-298d-4f76-ac4e-c5d6523e5a1f" providerId="ADAL" clId="{E702CA88-4B50-4C15-8265-A2AF22C06826}"/>
    <pc:docChg chg="undo custSel addSld delSld modSld sldOrd">
      <pc:chgData name="Nahom Mekbeb" userId="e293a0d2-298d-4f76-ac4e-c5d6523e5a1f" providerId="ADAL" clId="{E702CA88-4B50-4C15-8265-A2AF22C06826}" dt="2025-04-24T14:32:45.193" v="9167" actId="20577"/>
      <pc:docMkLst>
        <pc:docMk/>
      </pc:docMkLst>
      <pc:sldChg chg="modSp mod">
        <pc:chgData name="Nahom Mekbeb" userId="e293a0d2-298d-4f76-ac4e-c5d6523e5a1f" providerId="ADAL" clId="{E702CA88-4B50-4C15-8265-A2AF22C06826}" dt="2025-04-23T14:22:12.002" v="1870" actId="20577"/>
        <pc:sldMkLst>
          <pc:docMk/>
          <pc:sldMk cId="3001825606" sldId="256"/>
        </pc:sldMkLst>
        <pc:spChg chg="mod">
          <ac:chgData name="Nahom Mekbeb" userId="e293a0d2-298d-4f76-ac4e-c5d6523e5a1f" providerId="ADAL" clId="{E702CA88-4B50-4C15-8265-A2AF22C06826}" dt="2025-04-23T14:22:12.002" v="1870" actId="20577"/>
          <ac:spMkLst>
            <pc:docMk/>
            <pc:sldMk cId="3001825606" sldId="256"/>
            <ac:spMk id="3" creationId="{E2B8DC54-AEC7-35F2-C6FF-6A7E2B420E9A}"/>
          </ac:spMkLst>
        </pc:spChg>
      </pc:sldChg>
      <pc:sldChg chg="modSp new mod ord">
        <pc:chgData name="Nahom Mekbeb" userId="e293a0d2-298d-4f76-ac4e-c5d6523e5a1f" providerId="ADAL" clId="{E702CA88-4B50-4C15-8265-A2AF22C06826}" dt="2025-04-24T09:52:48.259" v="9165" actId="255"/>
        <pc:sldMkLst>
          <pc:docMk/>
          <pc:sldMk cId="2324680516" sldId="257"/>
        </pc:sldMkLst>
        <pc:spChg chg="mod">
          <ac:chgData name="Nahom Mekbeb" userId="e293a0d2-298d-4f76-ac4e-c5d6523e5a1f" providerId="ADAL" clId="{E702CA88-4B50-4C15-8265-A2AF22C06826}" dt="2025-04-24T09:52:48.259" v="9165" actId="255"/>
          <ac:spMkLst>
            <pc:docMk/>
            <pc:sldMk cId="2324680516" sldId="257"/>
            <ac:spMk id="2" creationId="{ABAD1B1E-6CDB-67F4-8AFE-E9134536941A}"/>
          </ac:spMkLst>
        </pc:spChg>
        <pc:spChg chg="mod">
          <ac:chgData name="Nahom Mekbeb" userId="e293a0d2-298d-4f76-ac4e-c5d6523e5a1f" providerId="ADAL" clId="{E702CA88-4B50-4C15-8265-A2AF22C06826}" dt="2025-04-23T14:06:16.938" v="1237" actId="113"/>
          <ac:spMkLst>
            <pc:docMk/>
            <pc:sldMk cId="2324680516" sldId="257"/>
            <ac:spMk id="3" creationId="{07070F80-B619-CCB0-E482-652F91D5F8AA}"/>
          </ac:spMkLst>
        </pc:spChg>
      </pc:sldChg>
      <pc:sldChg chg="modSp new mod">
        <pc:chgData name="Nahom Mekbeb" userId="e293a0d2-298d-4f76-ac4e-c5d6523e5a1f" providerId="ADAL" clId="{E702CA88-4B50-4C15-8265-A2AF22C06826}" dt="2025-04-23T14:26:20.937" v="1930" actId="20577"/>
        <pc:sldMkLst>
          <pc:docMk/>
          <pc:sldMk cId="151905977" sldId="258"/>
        </pc:sldMkLst>
        <pc:spChg chg="mod">
          <ac:chgData name="Nahom Mekbeb" userId="e293a0d2-298d-4f76-ac4e-c5d6523e5a1f" providerId="ADAL" clId="{E702CA88-4B50-4C15-8265-A2AF22C06826}" dt="2025-04-23T14:10:07.875" v="1349" actId="255"/>
          <ac:spMkLst>
            <pc:docMk/>
            <pc:sldMk cId="151905977" sldId="258"/>
            <ac:spMk id="2" creationId="{A60D4464-D501-219D-4FF5-CF844B8F6AC1}"/>
          </ac:spMkLst>
        </pc:spChg>
        <pc:spChg chg="mod">
          <ac:chgData name="Nahom Mekbeb" userId="e293a0d2-298d-4f76-ac4e-c5d6523e5a1f" providerId="ADAL" clId="{E702CA88-4B50-4C15-8265-A2AF22C06826}" dt="2025-04-23T14:26:20.937" v="1930" actId="20577"/>
          <ac:spMkLst>
            <pc:docMk/>
            <pc:sldMk cId="151905977" sldId="258"/>
            <ac:spMk id="3" creationId="{AF626D2F-FF74-D69F-3ABB-C7C399623068}"/>
          </ac:spMkLst>
        </pc:spChg>
      </pc:sldChg>
      <pc:sldChg chg="modSp new mod">
        <pc:chgData name="Nahom Mekbeb" userId="e293a0d2-298d-4f76-ac4e-c5d6523e5a1f" providerId="ADAL" clId="{E702CA88-4B50-4C15-8265-A2AF22C06826}" dt="2025-04-23T15:07:57.526" v="2871" actId="20577"/>
        <pc:sldMkLst>
          <pc:docMk/>
          <pc:sldMk cId="1872828601" sldId="259"/>
        </pc:sldMkLst>
        <pc:spChg chg="mod">
          <ac:chgData name="Nahom Mekbeb" userId="e293a0d2-298d-4f76-ac4e-c5d6523e5a1f" providerId="ADAL" clId="{E702CA88-4B50-4C15-8265-A2AF22C06826}" dt="2025-04-23T15:07:57.526" v="2871" actId="20577"/>
          <ac:spMkLst>
            <pc:docMk/>
            <pc:sldMk cId="1872828601" sldId="259"/>
            <ac:spMk id="2" creationId="{4AE30307-CD98-E4FA-CCF9-3AB90ABDBE12}"/>
          </ac:spMkLst>
        </pc:spChg>
        <pc:spChg chg="mod">
          <ac:chgData name="Nahom Mekbeb" userId="e293a0d2-298d-4f76-ac4e-c5d6523e5a1f" providerId="ADAL" clId="{E702CA88-4B50-4C15-8265-A2AF22C06826}" dt="2025-04-23T15:07:20.531" v="2862" actId="20577"/>
          <ac:spMkLst>
            <pc:docMk/>
            <pc:sldMk cId="1872828601" sldId="259"/>
            <ac:spMk id="3" creationId="{C1C0044C-5EA8-2EFB-22CC-A07F38B06276}"/>
          </ac:spMkLst>
        </pc:spChg>
      </pc:sldChg>
      <pc:sldChg chg="modSp new mod">
        <pc:chgData name="Nahom Mekbeb" userId="e293a0d2-298d-4f76-ac4e-c5d6523e5a1f" providerId="ADAL" clId="{E702CA88-4B50-4C15-8265-A2AF22C06826}" dt="2025-04-23T15:33:33.549" v="3906" actId="20577"/>
        <pc:sldMkLst>
          <pc:docMk/>
          <pc:sldMk cId="1900490162" sldId="260"/>
        </pc:sldMkLst>
        <pc:spChg chg="mod">
          <ac:chgData name="Nahom Mekbeb" userId="e293a0d2-298d-4f76-ac4e-c5d6523e5a1f" providerId="ADAL" clId="{E702CA88-4B50-4C15-8265-A2AF22C06826}" dt="2025-04-23T15:08:22.902" v="2893" actId="20577"/>
          <ac:spMkLst>
            <pc:docMk/>
            <pc:sldMk cId="1900490162" sldId="260"/>
            <ac:spMk id="2" creationId="{B8F3DEF8-6BFC-BF51-BE0F-F897C6C92002}"/>
          </ac:spMkLst>
        </pc:spChg>
        <pc:spChg chg="mod">
          <ac:chgData name="Nahom Mekbeb" userId="e293a0d2-298d-4f76-ac4e-c5d6523e5a1f" providerId="ADAL" clId="{E702CA88-4B50-4C15-8265-A2AF22C06826}" dt="2025-04-23T15:33:33.549" v="3906" actId="20577"/>
          <ac:spMkLst>
            <pc:docMk/>
            <pc:sldMk cId="1900490162" sldId="260"/>
            <ac:spMk id="3" creationId="{D59F725E-F93F-8B7E-6184-898F6DAC3499}"/>
          </ac:spMkLst>
        </pc:spChg>
      </pc:sldChg>
      <pc:sldChg chg="modSp new mod">
        <pc:chgData name="Nahom Mekbeb" userId="e293a0d2-298d-4f76-ac4e-c5d6523e5a1f" providerId="ADAL" clId="{E702CA88-4B50-4C15-8265-A2AF22C06826}" dt="2025-04-23T15:44:07.505" v="4514" actId="20577"/>
        <pc:sldMkLst>
          <pc:docMk/>
          <pc:sldMk cId="1598200873" sldId="261"/>
        </pc:sldMkLst>
        <pc:spChg chg="mod">
          <ac:chgData name="Nahom Mekbeb" userId="e293a0d2-298d-4f76-ac4e-c5d6523e5a1f" providerId="ADAL" clId="{E702CA88-4B50-4C15-8265-A2AF22C06826}" dt="2025-04-23T15:30:44.199" v="3782" actId="255"/>
          <ac:spMkLst>
            <pc:docMk/>
            <pc:sldMk cId="1598200873" sldId="261"/>
            <ac:spMk id="2" creationId="{62599319-57FC-7D2B-3FAA-57685190E232}"/>
          </ac:spMkLst>
        </pc:spChg>
        <pc:spChg chg="mod">
          <ac:chgData name="Nahom Mekbeb" userId="e293a0d2-298d-4f76-ac4e-c5d6523e5a1f" providerId="ADAL" clId="{E702CA88-4B50-4C15-8265-A2AF22C06826}" dt="2025-04-23T15:44:07.505" v="4514" actId="20577"/>
          <ac:spMkLst>
            <pc:docMk/>
            <pc:sldMk cId="1598200873" sldId="261"/>
            <ac:spMk id="3" creationId="{2357030F-C60A-6E1F-F819-738672E20844}"/>
          </ac:spMkLst>
        </pc:spChg>
      </pc:sldChg>
      <pc:sldChg chg="modSp new mod">
        <pc:chgData name="Nahom Mekbeb" userId="e293a0d2-298d-4f76-ac4e-c5d6523e5a1f" providerId="ADAL" clId="{E702CA88-4B50-4C15-8265-A2AF22C06826}" dt="2025-04-23T16:06:20.287" v="5372" actId="20577"/>
        <pc:sldMkLst>
          <pc:docMk/>
          <pc:sldMk cId="2002839017" sldId="262"/>
        </pc:sldMkLst>
        <pc:spChg chg="mod">
          <ac:chgData name="Nahom Mekbeb" userId="e293a0d2-298d-4f76-ac4e-c5d6523e5a1f" providerId="ADAL" clId="{E702CA88-4B50-4C15-8265-A2AF22C06826}" dt="2025-04-23T15:45:25.963" v="4558" actId="20577"/>
          <ac:spMkLst>
            <pc:docMk/>
            <pc:sldMk cId="2002839017" sldId="262"/>
            <ac:spMk id="2" creationId="{06A93284-CE2B-4C25-8C97-1339F22B1F16}"/>
          </ac:spMkLst>
        </pc:spChg>
        <pc:spChg chg="mod">
          <ac:chgData name="Nahom Mekbeb" userId="e293a0d2-298d-4f76-ac4e-c5d6523e5a1f" providerId="ADAL" clId="{E702CA88-4B50-4C15-8265-A2AF22C06826}" dt="2025-04-23T16:06:20.287" v="5372" actId="20577"/>
          <ac:spMkLst>
            <pc:docMk/>
            <pc:sldMk cId="2002839017" sldId="262"/>
            <ac:spMk id="3" creationId="{60B837EC-9276-EC57-9F1C-5E5E93431206}"/>
          </ac:spMkLst>
        </pc:spChg>
      </pc:sldChg>
      <pc:sldChg chg="addSp delSp modSp new mod ord">
        <pc:chgData name="Nahom Mekbeb" userId="e293a0d2-298d-4f76-ac4e-c5d6523e5a1f" providerId="ADAL" clId="{E702CA88-4B50-4C15-8265-A2AF22C06826}" dt="2025-04-24T07:43:05.525" v="6843"/>
        <pc:sldMkLst>
          <pc:docMk/>
          <pc:sldMk cId="1112074771" sldId="263"/>
        </pc:sldMkLst>
        <pc:spChg chg="mod">
          <ac:chgData name="Nahom Mekbeb" userId="e293a0d2-298d-4f76-ac4e-c5d6523e5a1f" providerId="ADAL" clId="{E702CA88-4B50-4C15-8265-A2AF22C06826}" dt="2025-04-23T16:09:18.594" v="5393" actId="20577"/>
          <ac:spMkLst>
            <pc:docMk/>
            <pc:sldMk cId="1112074771" sldId="263"/>
            <ac:spMk id="2" creationId="{22FA5F25-0B08-690C-7B7C-FAB0A3DB0108}"/>
          </ac:spMkLst>
        </pc:spChg>
        <pc:spChg chg="add mod">
          <ac:chgData name="Nahom Mekbeb" userId="e293a0d2-298d-4f76-ac4e-c5d6523e5a1f" providerId="ADAL" clId="{E702CA88-4B50-4C15-8265-A2AF22C06826}" dt="2025-04-24T07:43:05.525" v="6843"/>
          <ac:spMkLst>
            <pc:docMk/>
            <pc:sldMk cId="1112074771" sldId="263"/>
            <ac:spMk id="6" creationId="{8AD7BE4E-B0B4-E0B2-6B89-12BC3F7ECB33}"/>
          </ac:spMkLst>
        </pc:spChg>
      </pc:sldChg>
      <pc:sldChg chg="modSp new mod">
        <pc:chgData name="Nahom Mekbeb" userId="e293a0d2-298d-4f76-ac4e-c5d6523e5a1f" providerId="ADAL" clId="{E702CA88-4B50-4C15-8265-A2AF22C06826}" dt="2025-04-24T07:36:13.660" v="6655" actId="20577"/>
        <pc:sldMkLst>
          <pc:docMk/>
          <pc:sldMk cId="2287427537" sldId="264"/>
        </pc:sldMkLst>
        <pc:spChg chg="mod">
          <ac:chgData name="Nahom Mekbeb" userId="e293a0d2-298d-4f76-ac4e-c5d6523e5a1f" providerId="ADAL" clId="{E702CA88-4B50-4C15-8265-A2AF22C06826}" dt="2025-04-24T07:17:09.134" v="5425" actId="20577"/>
          <ac:spMkLst>
            <pc:docMk/>
            <pc:sldMk cId="2287427537" sldId="264"/>
            <ac:spMk id="2" creationId="{51F11CD1-D49B-ED94-DC5B-E80B2CBFB054}"/>
          </ac:spMkLst>
        </pc:spChg>
        <pc:spChg chg="mod">
          <ac:chgData name="Nahom Mekbeb" userId="e293a0d2-298d-4f76-ac4e-c5d6523e5a1f" providerId="ADAL" clId="{E702CA88-4B50-4C15-8265-A2AF22C06826}" dt="2025-04-24T07:36:13.660" v="6655" actId="20577"/>
          <ac:spMkLst>
            <pc:docMk/>
            <pc:sldMk cId="2287427537" sldId="264"/>
            <ac:spMk id="3" creationId="{99B23351-9F92-DDE0-6E6C-8F51A4F8E903}"/>
          </ac:spMkLst>
        </pc:spChg>
      </pc:sldChg>
      <pc:sldChg chg="addSp delSp modSp new mod">
        <pc:chgData name="Nahom Mekbeb" userId="e293a0d2-298d-4f76-ac4e-c5d6523e5a1f" providerId="ADAL" clId="{E702CA88-4B50-4C15-8265-A2AF22C06826}" dt="2025-04-24T07:40:28.929" v="6765"/>
        <pc:sldMkLst>
          <pc:docMk/>
          <pc:sldMk cId="1285289700" sldId="265"/>
        </pc:sldMkLst>
        <pc:spChg chg="mod">
          <ac:chgData name="Nahom Mekbeb" userId="e293a0d2-298d-4f76-ac4e-c5d6523e5a1f" providerId="ADAL" clId="{E702CA88-4B50-4C15-8265-A2AF22C06826}" dt="2025-04-24T07:38:22.504" v="6721" actId="20577"/>
          <ac:spMkLst>
            <pc:docMk/>
            <pc:sldMk cId="1285289700" sldId="265"/>
            <ac:spMk id="2" creationId="{05FC74E9-6C87-E846-3DA3-A727FDC8B64A}"/>
          </ac:spMkLst>
        </pc:spChg>
        <pc:spChg chg="add mod">
          <ac:chgData name="Nahom Mekbeb" userId="e293a0d2-298d-4f76-ac4e-c5d6523e5a1f" providerId="ADAL" clId="{E702CA88-4B50-4C15-8265-A2AF22C06826}" dt="2025-04-24T07:40:18.228" v="6764" actId="20577"/>
          <ac:spMkLst>
            <pc:docMk/>
            <pc:sldMk cId="1285289700" sldId="265"/>
            <ac:spMk id="6" creationId="{86A1CD1F-E195-A89B-C5DA-FB39E8149A0B}"/>
          </ac:spMkLst>
        </pc:spChg>
        <pc:graphicFrameChg chg="add mod">
          <ac:chgData name="Nahom Mekbeb" userId="e293a0d2-298d-4f76-ac4e-c5d6523e5a1f" providerId="ADAL" clId="{E702CA88-4B50-4C15-8265-A2AF22C06826}" dt="2025-04-24T07:40:28.929" v="6765"/>
          <ac:graphicFrameMkLst>
            <pc:docMk/>
            <pc:sldMk cId="1285289700" sldId="265"/>
            <ac:graphicFrameMk id="7" creationId="{CBED64CF-11BB-775C-1914-270F92DFC6A4}"/>
          </ac:graphicFrameMkLst>
        </pc:graphicFrameChg>
      </pc:sldChg>
      <pc:sldChg chg="addSp modSp new mod">
        <pc:chgData name="Nahom Mekbeb" userId="e293a0d2-298d-4f76-ac4e-c5d6523e5a1f" providerId="ADAL" clId="{E702CA88-4B50-4C15-8265-A2AF22C06826}" dt="2025-04-24T07:41:57.566" v="6837" actId="14100"/>
        <pc:sldMkLst>
          <pc:docMk/>
          <pc:sldMk cId="2732539100" sldId="266"/>
        </pc:sldMkLst>
        <pc:spChg chg="mod">
          <ac:chgData name="Nahom Mekbeb" userId="e293a0d2-298d-4f76-ac4e-c5d6523e5a1f" providerId="ADAL" clId="{E702CA88-4B50-4C15-8265-A2AF22C06826}" dt="2025-04-24T07:40:49.781" v="6789" actId="20577"/>
          <ac:spMkLst>
            <pc:docMk/>
            <pc:sldMk cId="2732539100" sldId="266"/>
            <ac:spMk id="2" creationId="{A284B925-65A3-1B7B-7DE3-DD2DEECB0AC0}"/>
          </ac:spMkLst>
        </pc:spChg>
        <pc:spChg chg="mod">
          <ac:chgData name="Nahom Mekbeb" userId="e293a0d2-298d-4f76-ac4e-c5d6523e5a1f" providerId="ADAL" clId="{E702CA88-4B50-4C15-8265-A2AF22C06826}" dt="2025-04-24T07:41:34.385" v="6835" actId="20577"/>
          <ac:spMkLst>
            <pc:docMk/>
            <pc:sldMk cId="2732539100" sldId="266"/>
            <ac:spMk id="3" creationId="{F7DE2630-A191-9997-35B5-B022D6073057}"/>
          </ac:spMkLst>
        </pc:spChg>
        <pc:graphicFrameChg chg="add mod modGraphic">
          <ac:chgData name="Nahom Mekbeb" userId="e293a0d2-298d-4f76-ac4e-c5d6523e5a1f" providerId="ADAL" clId="{E702CA88-4B50-4C15-8265-A2AF22C06826}" dt="2025-04-24T07:41:57.566" v="6837" actId="14100"/>
          <ac:graphicFrameMkLst>
            <pc:docMk/>
            <pc:sldMk cId="2732539100" sldId="266"/>
            <ac:graphicFrameMk id="4" creationId="{FA913719-6589-1CDD-99E6-FA8323E539EC}"/>
          </ac:graphicFrameMkLst>
        </pc:graphicFrameChg>
      </pc:sldChg>
      <pc:sldChg chg="addSp delSp modSp new mod ord">
        <pc:chgData name="Nahom Mekbeb" userId="e293a0d2-298d-4f76-ac4e-c5d6523e5a1f" providerId="ADAL" clId="{E702CA88-4B50-4C15-8265-A2AF22C06826}" dt="2025-04-24T08:28:26.639" v="8790"/>
        <pc:sldMkLst>
          <pc:docMk/>
          <pc:sldMk cId="3920509651" sldId="267"/>
        </pc:sldMkLst>
        <pc:spChg chg="mod">
          <ac:chgData name="Nahom Mekbeb" userId="e293a0d2-298d-4f76-ac4e-c5d6523e5a1f" providerId="ADAL" clId="{E702CA88-4B50-4C15-8265-A2AF22C06826}" dt="2025-04-24T07:47:57.830" v="6922" actId="20577"/>
          <ac:spMkLst>
            <pc:docMk/>
            <pc:sldMk cId="3920509651" sldId="267"/>
            <ac:spMk id="2" creationId="{C2966A00-7522-4D78-5722-2F2262A4BC80}"/>
          </ac:spMkLst>
        </pc:spChg>
        <pc:spChg chg="mod">
          <ac:chgData name="Nahom Mekbeb" userId="e293a0d2-298d-4f76-ac4e-c5d6523e5a1f" providerId="ADAL" clId="{E702CA88-4B50-4C15-8265-A2AF22C06826}" dt="2025-04-24T08:01:12.467" v="7025" actId="20577"/>
          <ac:spMkLst>
            <pc:docMk/>
            <pc:sldMk cId="3920509651" sldId="267"/>
            <ac:spMk id="3" creationId="{B33E33FC-D90F-74CC-6813-C428AC1A20D1}"/>
          </ac:spMkLst>
        </pc:spChg>
        <pc:graphicFrameChg chg="add mod modGraphic">
          <ac:chgData name="Nahom Mekbeb" userId="e293a0d2-298d-4f76-ac4e-c5d6523e5a1f" providerId="ADAL" clId="{E702CA88-4B50-4C15-8265-A2AF22C06826}" dt="2025-04-24T08:05:05.219" v="7246" actId="14100"/>
          <ac:graphicFrameMkLst>
            <pc:docMk/>
            <pc:sldMk cId="3920509651" sldId="267"/>
            <ac:graphicFrameMk id="8" creationId="{841D37A8-1B95-80FC-268C-767C30BCDBB0}"/>
          </ac:graphicFrameMkLst>
        </pc:graphicFrameChg>
        <pc:graphicFrameChg chg="add mod modGraphic">
          <ac:chgData name="Nahom Mekbeb" userId="e293a0d2-298d-4f76-ac4e-c5d6523e5a1f" providerId="ADAL" clId="{E702CA88-4B50-4C15-8265-A2AF22C06826}" dt="2025-04-24T08:09:43.857" v="7505" actId="1076"/>
          <ac:graphicFrameMkLst>
            <pc:docMk/>
            <pc:sldMk cId="3920509651" sldId="267"/>
            <ac:graphicFrameMk id="9" creationId="{7ADF154F-A8F8-462B-EEBF-F3301E8C249D}"/>
          </ac:graphicFrameMkLst>
        </pc:graphicFrameChg>
      </pc:sldChg>
      <pc:sldChg chg="addSp modSp new mod ord">
        <pc:chgData name="Nahom Mekbeb" userId="e293a0d2-298d-4f76-ac4e-c5d6523e5a1f" providerId="ADAL" clId="{E702CA88-4B50-4C15-8265-A2AF22C06826}" dt="2025-04-24T08:17:22.021" v="8002"/>
        <pc:sldMkLst>
          <pc:docMk/>
          <pc:sldMk cId="747766425" sldId="268"/>
        </pc:sldMkLst>
        <pc:spChg chg="mod">
          <ac:chgData name="Nahom Mekbeb" userId="e293a0d2-298d-4f76-ac4e-c5d6523e5a1f" providerId="ADAL" clId="{E702CA88-4B50-4C15-8265-A2AF22C06826}" dt="2025-04-24T08:10:19.022" v="7523" actId="20577"/>
          <ac:spMkLst>
            <pc:docMk/>
            <pc:sldMk cId="747766425" sldId="268"/>
            <ac:spMk id="2" creationId="{377AB39A-ECF6-4E26-8878-A1D9BB37196D}"/>
          </ac:spMkLst>
        </pc:spChg>
        <pc:spChg chg="mod">
          <ac:chgData name="Nahom Mekbeb" userId="e293a0d2-298d-4f76-ac4e-c5d6523e5a1f" providerId="ADAL" clId="{E702CA88-4B50-4C15-8265-A2AF22C06826}" dt="2025-04-24T08:11:30.268" v="7572" actId="20577"/>
          <ac:spMkLst>
            <pc:docMk/>
            <pc:sldMk cId="747766425" sldId="268"/>
            <ac:spMk id="3" creationId="{034204E6-EA51-0C0E-B0F5-55C87D50D884}"/>
          </ac:spMkLst>
        </pc:spChg>
        <pc:graphicFrameChg chg="add mod modGraphic">
          <ac:chgData name="Nahom Mekbeb" userId="e293a0d2-298d-4f76-ac4e-c5d6523e5a1f" providerId="ADAL" clId="{E702CA88-4B50-4C15-8265-A2AF22C06826}" dt="2025-04-24T08:13:49.147" v="7790" actId="20577"/>
          <ac:graphicFrameMkLst>
            <pc:docMk/>
            <pc:sldMk cId="747766425" sldId="268"/>
            <ac:graphicFrameMk id="4" creationId="{986026D0-3923-2176-E2D0-766CB8412BB6}"/>
          </ac:graphicFrameMkLst>
        </pc:graphicFrameChg>
        <pc:graphicFrameChg chg="add mod modGraphic">
          <ac:chgData name="Nahom Mekbeb" userId="e293a0d2-298d-4f76-ac4e-c5d6523e5a1f" providerId="ADAL" clId="{E702CA88-4B50-4C15-8265-A2AF22C06826}" dt="2025-04-24T08:16:58.427" v="7999" actId="14100"/>
          <ac:graphicFrameMkLst>
            <pc:docMk/>
            <pc:sldMk cId="747766425" sldId="268"/>
            <ac:graphicFrameMk id="5" creationId="{5D2C4C74-5FCC-83D4-D55D-78D7D2CDC7C6}"/>
          </ac:graphicFrameMkLst>
        </pc:graphicFrameChg>
      </pc:sldChg>
      <pc:sldChg chg="addSp modSp new mod">
        <pc:chgData name="Nahom Mekbeb" userId="e293a0d2-298d-4f76-ac4e-c5d6523e5a1f" providerId="ADAL" clId="{E702CA88-4B50-4C15-8265-A2AF22C06826}" dt="2025-04-24T14:32:45.193" v="9167" actId="20577"/>
        <pc:sldMkLst>
          <pc:docMk/>
          <pc:sldMk cId="1582402168" sldId="269"/>
        </pc:sldMkLst>
        <pc:spChg chg="mod">
          <ac:chgData name="Nahom Mekbeb" userId="e293a0d2-298d-4f76-ac4e-c5d6523e5a1f" providerId="ADAL" clId="{E702CA88-4B50-4C15-8265-A2AF22C06826}" dt="2025-04-24T08:17:32.379" v="8018" actId="20577"/>
          <ac:spMkLst>
            <pc:docMk/>
            <pc:sldMk cId="1582402168" sldId="269"/>
            <ac:spMk id="2" creationId="{F33BBFE8-8B9D-6648-0E70-79CE9A0A8A8F}"/>
          </ac:spMkLst>
        </pc:spChg>
        <pc:spChg chg="mod">
          <ac:chgData name="Nahom Mekbeb" userId="e293a0d2-298d-4f76-ac4e-c5d6523e5a1f" providerId="ADAL" clId="{E702CA88-4B50-4C15-8265-A2AF22C06826}" dt="2025-04-24T09:06:46.258" v="9164" actId="20577"/>
          <ac:spMkLst>
            <pc:docMk/>
            <pc:sldMk cId="1582402168" sldId="269"/>
            <ac:spMk id="3" creationId="{2A6E3A30-FA9C-EB48-C3B7-5523858A4C8C}"/>
          </ac:spMkLst>
        </pc:spChg>
        <pc:graphicFrameChg chg="add mod modGraphic">
          <ac:chgData name="Nahom Mekbeb" userId="e293a0d2-298d-4f76-ac4e-c5d6523e5a1f" providerId="ADAL" clId="{E702CA88-4B50-4C15-8265-A2AF22C06826}" dt="2025-04-24T14:32:45.193" v="9167" actId="20577"/>
          <ac:graphicFrameMkLst>
            <pc:docMk/>
            <pc:sldMk cId="1582402168" sldId="269"/>
            <ac:graphicFrameMk id="4" creationId="{8C23695C-881B-5108-84AE-19FF15C375EC}"/>
          </ac:graphicFrameMkLst>
        </pc:graphicFrameChg>
        <pc:graphicFrameChg chg="add mod modGraphic">
          <ac:chgData name="Nahom Mekbeb" userId="e293a0d2-298d-4f76-ac4e-c5d6523e5a1f" providerId="ADAL" clId="{E702CA88-4B50-4C15-8265-A2AF22C06826}" dt="2025-04-24T08:25:19.604" v="8510" actId="14734"/>
          <ac:graphicFrameMkLst>
            <pc:docMk/>
            <pc:sldMk cId="1582402168" sldId="269"/>
            <ac:graphicFrameMk id="5" creationId="{6A7A4718-B34F-7FAF-69A8-0D2C1AB47FC7}"/>
          </ac:graphicFrameMkLst>
        </pc:graphicFrameChg>
      </pc:sldChg>
      <pc:sldChg chg="modSp new mod">
        <pc:chgData name="Nahom Mekbeb" userId="e293a0d2-298d-4f76-ac4e-c5d6523e5a1f" providerId="ADAL" clId="{E702CA88-4B50-4C15-8265-A2AF22C06826}" dt="2025-04-24T09:03:45.846" v="9162" actId="20577"/>
        <pc:sldMkLst>
          <pc:docMk/>
          <pc:sldMk cId="1112948388" sldId="270"/>
        </pc:sldMkLst>
        <pc:spChg chg="mod">
          <ac:chgData name="Nahom Mekbeb" userId="e293a0d2-298d-4f76-ac4e-c5d6523e5a1f" providerId="ADAL" clId="{E702CA88-4B50-4C15-8265-A2AF22C06826}" dt="2025-04-24T08:26:15.691" v="8527" actId="20577"/>
          <ac:spMkLst>
            <pc:docMk/>
            <pc:sldMk cId="1112948388" sldId="270"/>
            <ac:spMk id="2" creationId="{B4978D0A-AA86-29F3-50B9-C4402E910149}"/>
          </ac:spMkLst>
        </pc:spChg>
        <pc:spChg chg="mod">
          <ac:chgData name="Nahom Mekbeb" userId="e293a0d2-298d-4f76-ac4e-c5d6523e5a1f" providerId="ADAL" clId="{E702CA88-4B50-4C15-8265-A2AF22C06826}" dt="2025-04-24T09:03:45.846" v="9162" actId="20577"/>
          <ac:spMkLst>
            <pc:docMk/>
            <pc:sldMk cId="1112948388" sldId="270"/>
            <ac:spMk id="3" creationId="{94603991-F9B0-B748-A8F7-DA9E8CDA5FE8}"/>
          </ac:spMkLst>
        </pc:spChg>
      </pc:sldChg>
      <pc:sldChg chg="new del">
        <pc:chgData name="Nahom Mekbeb" userId="e293a0d2-298d-4f76-ac4e-c5d6523e5a1f" providerId="ADAL" clId="{E702CA88-4B50-4C15-8265-A2AF22C06826}" dt="2025-04-24T09:53:55.877" v="9166" actId="2696"/>
        <pc:sldMkLst>
          <pc:docMk/>
          <pc:sldMk cId="159210495" sldId="271"/>
        </pc:sldMkLst>
      </pc:sldChg>
    </pc:docChg>
  </pc:docChgLst>
  <pc:docChgLst>
    <pc:chgData name="Nahom Mekbeb" userId="e293a0d2-298d-4f76-ac4e-c5d6523e5a1f" providerId="ADAL" clId="{DF916FE5-B00A-4729-AE71-34269C17E8A7}"/>
    <pc:docChg chg="custSel modSld">
      <pc:chgData name="Nahom Mekbeb" userId="e293a0d2-298d-4f76-ac4e-c5d6523e5a1f" providerId="ADAL" clId="{DF916FE5-B00A-4729-AE71-34269C17E8A7}" dt="2025-05-15T15:03:48.500" v="2" actId="207"/>
      <pc:docMkLst>
        <pc:docMk/>
      </pc:docMkLst>
      <pc:sldChg chg="modSp mod">
        <pc:chgData name="Nahom Mekbeb" userId="e293a0d2-298d-4f76-ac4e-c5d6523e5a1f" providerId="ADAL" clId="{DF916FE5-B00A-4729-AE71-34269C17E8A7}" dt="2025-05-15T15:03:48.500" v="2" actId="207"/>
        <pc:sldMkLst>
          <pc:docMk/>
          <pc:sldMk cId="217345901" sldId="276"/>
        </pc:sldMkLst>
        <pc:graphicFrameChg chg="modGraphic">
          <ac:chgData name="Nahom Mekbeb" userId="e293a0d2-298d-4f76-ac4e-c5d6523e5a1f" providerId="ADAL" clId="{DF916FE5-B00A-4729-AE71-34269C17E8A7}" dt="2025-05-15T15:03:48.500" v="2" actId="207"/>
          <ac:graphicFrameMkLst>
            <pc:docMk/>
            <pc:sldMk cId="217345901" sldId="276"/>
            <ac:graphicFrameMk id="4" creationId="{21899550-2416-5544-69E6-7EF1B9CC8FD5}"/>
          </ac:graphicFrameMkLst>
        </pc:graphicFrameChg>
      </pc:sldChg>
    </pc:docChg>
  </pc:docChgLst>
  <pc:docChgLst>
    <pc:chgData name="Nahom Mekbeb" userId="e293a0d2-298d-4f76-ac4e-c5d6523e5a1f" providerId="ADAL" clId="{53D83D7F-2055-446F-B45C-976538000C33}"/>
    <pc:docChg chg="undo custSel addSld modSld">
      <pc:chgData name="Nahom Mekbeb" userId="e293a0d2-298d-4f76-ac4e-c5d6523e5a1f" providerId="ADAL" clId="{53D83D7F-2055-446F-B45C-976538000C33}" dt="2025-05-14T10:55:38.771" v="1548" actId="27636"/>
      <pc:docMkLst>
        <pc:docMk/>
      </pc:docMkLst>
      <pc:sldChg chg="modSp new mod">
        <pc:chgData name="Nahom Mekbeb" userId="e293a0d2-298d-4f76-ac4e-c5d6523e5a1f" providerId="ADAL" clId="{53D83D7F-2055-446F-B45C-976538000C33}" dt="2025-05-14T10:02:56.768" v="518" actId="207"/>
        <pc:sldMkLst>
          <pc:docMk/>
          <pc:sldMk cId="3827855922" sldId="271"/>
        </pc:sldMkLst>
        <pc:spChg chg="mod">
          <ac:chgData name="Nahom Mekbeb" userId="e293a0d2-298d-4f76-ac4e-c5d6523e5a1f" providerId="ADAL" clId="{53D83D7F-2055-446F-B45C-976538000C33}" dt="2025-05-14T09:04:07.886" v="20" actId="20577"/>
          <ac:spMkLst>
            <pc:docMk/>
            <pc:sldMk cId="3827855922" sldId="271"/>
            <ac:spMk id="2" creationId="{01AC2E9C-D888-DD85-2BAD-09FF00C746CD}"/>
          </ac:spMkLst>
        </pc:spChg>
        <pc:spChg chg="mod">
          <ac:chgData name="Nahom Mekbeb" userId="e293a0d2-298d-4f76-ac4e-c5d6523e5a1f" providerId="ADAL" clId="{53D83D7F-2055-446F-B45C-976538000C33}" dt="2025-05-14T10:02:56.768" v="518" actId="207"/>
          <ac:spMkLst>
            <pc:docMk/>
            <pc:sldMk cId="3827855922" sldId="271"/>
            <ac:spMk id="3" creationId="{9E1AFDB4-8049-87C5-51EB-9FE899E502A8}"/>
          </ac:spMkLst>
        </pc:spChg>
      </pc:sldChg>
      <pc:sldChg chg="addSp delSp modSp new mod">
        <pc:chgData name="Nahom Mekbeb" userId="e293a0d2-298d-4f76-ac4e-c5d6523e5a1f" providerId="ADAL" clId="{53D83D7F-2055-446F-B45C-976538000C33}" dt="2025-05-14T10:01:41.594" v="513" actId="14100"/>
        <pc:sldMkLst>
          <pc:docMk/>
          <pc:sldMk cId="334790078" sldId="272"/>
        </pc:sldMkLst>
        <pc:spChg chg="mod">
          <ac:chgData name="Nahom Mekbeb" userId="e293a0d2-298d-4f76-ac4e-c5d6523e5a1f" providerId="ADAL" clId="{53D83D7F-2055-446F-B45C-976538000C33}" dt="2025-05-14T09:57:58.488" v="479" actId="20577"/>
          <ac:spMkLst>
            <pc:docMk/>
            <pc:sldMk cId="334790078" sldId="272"/>
            <ac:spMk id="2" creationId="{3B3B146C-C036-409B-39C2-3EB4EEE10D51}"/>
          </ac:spMkLst>
        </pc:spChg>
        <pc:spChg chg="mod">
          <ac:chgData name="Nahom Mekbeb" userId="e293a0d2-298d-4f76-ac4e-c5d6523e5a1f" providerId="ADAL" clId="{53D83D7F-2055-446F-B45C-976538000C33}" dt="2025-05-14T10:01:01.953" v="500" actId="20577"/>
          <ac:spMkLst>
            <pc:docMk/>
            <pc:sldMk cId="334790078" sldId="272"/>
            <ac:spMk id="3" creationId="{FF9B0853-6B22-2E5C-DA34-3B6F001AF47D}"/>
          </ac:spMkLst>
        </pc:spChg>
        <pc:graphicFrameChg chg="add del mod">
          <ac:chgData name="Nahom Mekbeb" userId="e293a0d2-298d-4f76-ac4e-c5d6523e5a1f" providerId="ADAL" clId="{53D83D7F-2055-446F-B45C-976538000C33}" dt="2025-05-14T10:00:50.840" v="499" actId="478"/>
          <ac:graphicFrameMkLst>
            <pc:docMk/>
            <pc:sldMk cId="334790078" sldId="272"/>
            <ac:graphicFrameMk id="4" creationId="{5FE9DD45-BEE6-88BD-401B-02CF9D86A6CB}"/>
          </ac:graphicFrameMkLst>
        </pc:graphicFrameChg>
        <pc:graphicFrameChg chg="add del mod modGraphic">
          <ac:chgData name="Nahom Mekbeb" userId="e293a0d2-298d-4f76-ac4e-c5d6523e5a1f" providerId="ADAL" clId="{53D83D7F-2055-446F-B45C-976538000C33}" dt="2025-05-14T10:00:45.961" v="498" actId="478"/>
          <ac:graphicFrameMkLst>
            <pc:docMk/>
            <pc:sldMk cId="334790078" sldId="272"/>
            <ac:graphicFrameMk id="5" creationId="{ED70D8E5-E26A-E5CD-58E6-9B9227657C0C}"/>
          </ac:graphicFrameMkLst>
        </pc:graphicFrameChg>
        <pc:graphicFrameChg chg="add mod modGraphic">
          <ac:chgData name="Nahom Mekbeb" userId="e293a0d2-298d-4f76-ac4e-c5d6523e5a1f" providerId="ADAL" clId="{53D83D7F-2055-446F-B45C-976538000C33}" dt="2025-05-14T10:01:41.594" v="513" actId="14100"/>
          <ac:graphicFrameMkLst>
            <pc:docMk/>
            <pc:sldMk cId="334790078" sldId="272"/>
            <ac:graphicFrameMk id="6" creationId="{BB6BF7BA-7A2B-F7D1-1EE8-C8EE26756C72}"/>
          </ac:graphicFrameMkLst>
        </pc:graphicFrameChg>
      </pc:sldChg>
      <pc:sldChg chg="modSp new mod">
        <pc:chgData name="Nahom Mekbeb" userId="e293a0d2-298d-4f76-ac4e-c5d6523e5a1f" providerId="ADAL" clId="{53D83D7F-2055-446F-B45C-976538000C33}" dt="2025-05-14T10:19:46.387" v="1217" actId="20577"/>
        <pc:sldMkLst>
          <pc:docMk/>
          <pc:sldMk cId="3305876296" sldId="273"/>
        </pc:sldMkLst>
        <pc:spChg chg="mod">
          <ac:chgData name="Nahom Mekbeb" userId="e293a0d2-298d-4f76-ac4e-c5d6523e5a1f" providerId="ADAL" clId="{53D83D7F-2055-446F-B45C-976538000C33}" dt="2025-05-14T10:04:13.848" v="532" actId="20577"/>
          <ac:spMkLst>
            <pc:docMk/>
            <pc:sldMk cId="3305876296" sldId="273"/>
            <ac:spMk id="2" creationId="{3B41E441-7FD4-40B6-C553-CFEE88C296A9}"/>
          </ac:spMkLst>
        </pc:spChg>
        <pc:spChg chg="mod">
          <ac:chgData name="Nahom Mekbeb" userId="e293a0d2-298d-4f76-ac4e-c5d6523e5a1f" providerId="ADAL" clId="{53D83D7F-2055-446F-B45C-976538000C33}" dt="2025-05-14T10:19:46.387" v="1217" actId="20577"/>
          <ac:spMkLst>
            <pc:docMk/>
            <pc:sldMk cId="3305876296" sldId="273"/>
            <ac:spMk id="3" creationId="{2F856A5A-6AA9-7C52-8B1A-761FE6011E1B}"/>
          </ac:spMkLst>
        </pc:spChg>
      </pc:sldChg>
      <pc:sldChg chg="addSp delSp modSp new mod">
        <pc:chgData name="Nahom Mekbeb" userId="e293a0d2-298d-4f76-ac4e-c5d6523e5a1f" providerId="ADAL" clId="{53D83D7F-2055-446F-B45C-976538000C33}" dt="2025-05-14T10:10:04.143" v="1046" actId="14100"/>
        <pc:sldMkLst>
          <pc:docMk/>
          <pc:sldMk cId="257522725" sldId="274"/>
        </pc:sldMkLst>
        <pc:spChg chg="mod">
          <ac:chgData name="Nahom Mekbeb" userId="e293a0d2-298d-4f76-ac4e-c5d6523e5a1f" providerId="ADAL" clId="{53D83D7F-2055-446F-B45C-976538000C33}" dt="2025-05-14T10:09:44.169" v="1044" actId="20577"/>
          <ac:spMkLst>
            <pc:docMk/>
            <pc:sldMk cId="257522725" sldId="274"/>
            <ac:spMk id="2" creationId="{6A4864BF-F03C-B46A-86BC-F9B6DCB0DC07}"/>
          </ac:spMkLst>
        </pc:spChg>
        <pc:spChg chg="del">
          <ac:chgData name="Nahom Mekbeb" userId="e293a0d2-298d-4f76-ac4e-c5d6523e5a1f" providerId="ADAL" clId="{53D83D7F-2055-446F-B45C-976538000C33}" dt="2025-05-14T10:09:59.933" v="1045"/>
          <ac:spMkLst>
            <pc:docMk/>
            <pc:sldMk cId="257522725" sldId="274"/>
            <ac:spMk id="3" creationId="{E04CE5E5-0A8E-59C0-D4A7-09ADF458DDC5}"/>
          </ac:spMkLst>
        </pc:spChg>
        <pc:graphicFrameChg chg="add mod modGraphic">
          <ac:chgData name="Nahom Mekbeb" userId="e293a0d2-298d-4f76-ac4e-c5d6523e5a1f" providerId="ADAL" clId="{53D83D7F-2055-446F-B45C-976538000C33}" dt="2025-05-14T10:10:04.143" v="1046" actId="14100"/>
          <ac:graphicFrameMkLst>
            <pc:docMk/>
            <pc:sldMk cId="257522725" sldId="274"/>
            <ac:graphicFrameMk id="4" creationId="{3B58EC69-7D45-F050-0B64-8402D4460E1F}"/>
          </ac:graphicFrameMkLst>
        </pc:graphicFrameChg>
      </pc:sldChg>
      <pc:sldChg chg="modSp new mod">
        <pc:chgData name="Nahom Mekbeb" userId="e293a0d2-298d-4f76-ac4e-c5d6523e5a1f" providerId="ADAL" clId="{53D83D7F-2055-446F-B45C-976538000C33}" dt="2025-05-14T10:55:38.771" v="1548" actId="27636"/>
        <pc:sldMkLst>
          <pc:docMk/>
          <pc:sldMk cId="1061032233" sldId="275"/>
        </pc:sldMkLst>
        <pc:spChg chg="mod">
          <ac:chgData name="Nahom Mekbeb" userId="e293a0d2-298d-4f76-ac4e-c5d6523e5a1f" providerId="ADAL" clId="{53D83D7F-2055-446F-B45C-976538000C33}" dt="2025-05-14T10:11:43.814" v="1068" actId="20577"/>
          <ac:spMkLst>
            <pc:docMk/>
            <pc:sldMk cId="1061032233" sldId="275"/>
            <ac:spMk id="2" creationId="{3DC15DF3-BF2E-CFAA-F052-EDF1E458F175}"/>
          </ac:spMkLst>
        </pc:spChg>
        <pc:spChg chg="mod">
          <ac:chgData name="Nahom Mekbeb" userId="e293a0d2-298d-4f76-ac4e-c5d6523e5a1f" providerId="ADAL" clId="{53D83D7F-2055-446F-B45C-976538000C33}" dt="2025-05-14T10:55:38.771" v="1548" actId="27636"/>
          <ac:spMkLst>
            <pc:docMk/>
            <pc:sldMk cId="1061032233" sldId="275"/>
            <ac:spMk id="3" creationId="{2D6D09D3-2E5F-CA5B-CCF2-782D93C10238}"/>
          </ac:spMkLst>
        </pc:spChg>
      </pc:sldChg>
      <pc:sldChg chg="addSp delSp modSp new mod">
        <pc:chgData name="Nahom Mekbeb" userId="e293a0d2-298d-4f76-ac4e-c5d6523e5a1f" providerId="ADAL" clId="{53D83D7F-2055-446F-B45C-976538000C33}" dt="2025-05-14T10:37:20.431" v="1346" actId="207"/>
        <pc:sldMkLst>
          <pc:docMk/>
          <pc:sldMk cId="217345901" sldId="276"/>
        </pc:sldMkLst>
        <pc:spChg chg="mod">
          <ac:chgData name="Nahom Mekbeb" userId="e293a0d2-298d-4f76-ac4e-c5d6523e5a1f" providerId="ADAL" clId="{53D83D7F-2055-446F-B45C-976538000C33}" dt="2025-05-14T10:22:08.992" v="1329" actId="20577"/>
          <ac:spMkLst>
            <pc:docMk/>
            <pc:sldMk cId="217345901" sldId="276"/>
            <ac:spMk id="2" creationId="{063C4885-822D-3CE2-5559-EACD3ED9C785}"/>
          </ac:spMkLst>
        </pc:spChg>
        <pc:spChg chg="del">
          <ac:chgData name="Nahom Mekbeb" userId="e293a0d2-298d-4f76-ac4e-c5d6523e5a1f" providerId="ADAL" clId="{53D83D7F-2055-446F-B45C-976538000C33}" dt="2025-05-14T10:22:35.484" v="1330"/>
          <ac:spMkLst>
            <pc:docMk/>
            <pc:sldMk cId="217345901" sldId="276"/>
            <ac:spMk id="3" creationId="{CF9A42D4-4464-6078-7168-37CB2E677F7D}"/>
          </ac:spMkLst>
        </pc:spChg>
        <pc:spChg chg="add mod">
          <ac:chgData name="Nahom Mekbeb" userId="e293a0d2-298d-4f76-ac4e-c5d6523e5a1f" providerId="ADAL" clId="{53D83D7F-2055-446F-B45C-976538000C33}" dt="2025-05-14T10:22:43.128" v="1333" actId="14100"/>
          <ac:spMkLst>
            <pc:docMk/>
            <pc:sldMk cId="217345901" sldId="276"/>
            <ac:spMk id="5" creationId="{089B8C16-8208-A6AF-3B3D-9B82DE9753FF}"/>
          </ac:spMkLst>
        </pc:spChg>
        <pc:graphicFrameChg chg="add mod modGraphic">
          <ac:chgData name="Nahom Mekbeb" userId="e293a0d2-298d-4f76-ac4e-c5d6523e5a1f" providerId="ADAL" clId="{53D83D7F-2055-446F-B45C-976538000C33}" dt="2025-05-14T10:37:20.431" v="1346" actId="207"/>
          <ac:graphicFrameMkLst>
            <pc:docMk/>
            <pc:sldMk cId="217345901" sldId="276"/>
            <ac:graphicFrameMk id="4" creationId="{21899550-2416-5544-69E6-7EF1B9CC8FD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E3627-DA53-46FF-8A4C-7C1B03F4A9EA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AD7BC-3805-4E05-B93D-8058FC1748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14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AD7BC-3805-4E05-B93D-8058FC17482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45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4DEDC-A858-9241-DD1F-C029A9540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41C5A-91A1-B1ED-CBDC-069268E47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4DBA1F-69AA-4C18-E089-AC649A5A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8505FB-C1B8-5334-94D7-2CF53102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82346D-D3DD-C6D5-1077-9C2BF982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664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38415-6C11-4706-8E5D-8E930B28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E48880-0D89-CA3F-A4D6-460E30F99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4416FE-BAB4-3C00-D4B2-B8311F6C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5708D9-441A-CA04-74A1-518F27DA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B36CB4-662C-828A-B774-D48B74FE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75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9755F-5281-60B6-FE43-E6EB41B7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F8E0BB-75DF-9CDD-4092-5B0C9D5AD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2F2A0-2620-3210-C7AB-4129F46D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E01335-BF4B-CC25-FDAA-17968E7B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1EB030-47CE-A803-1F89-E15F9BD3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45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AA6B3-3CBE-E594-C635-E8835B2C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84070F-0291-4B99-6329-7181616EA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157479-B28C-FBDF-B5D6-894148002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2A9564-024A-8DA6-A3E2-54A0FE49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3C7565-B14B-21F2-ED0E-892A044E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579123-CF73-21DB-7E68-5F6E0223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2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3328E-1963-284A-1501-99FAA5C5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145852-7A83-4E2B-A51D-E66E4BBEC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7F90D9-FFF0-3445-2EC8-FA7E9FC23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59D871-B36E-627E-99D8-B1CEC5530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5A5AED-77D5-CC34-99B1-5DB40F9AE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8BFD60C-109F-8BD5-ADA8-8C37C930B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34C6CC-16CC-6AC3-E0C2-5F9C34C9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B32CBF-3AA2-533D-5669-888C8CEF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60F321-5197-002A-C00A-105A7705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9DE5F5-B28A-8EBB-6178-6E6CE522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619E2D-D14C-D8F0-4BD6-A706866A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31D97A-143F-E284-6569-16EE0D70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35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0A7240-E1AD-8AEF-E8C7-351304F8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2C35E0-681A-E422-C577-B27B530B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060509-A1EE-2F14-4713-93BDBA74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65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CD687-C45D-72E4-2BA3-E9DBBE57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33F883-B812-D46B-B79C-8A8A508FE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DF9106-105D-984C-85DD-20EC96AFE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A6349F-829E-86FB-035D-4417C2D3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981EB7-C5A2-1AD2-C71B-9B212639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678826-6729-1B89-6BA8-C90B10C0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862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32F5F6-46E7-5228-D8AC-D2469C62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AAF1F9-9885-555F-D9FB-FEC56D8EB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B539F3-8996-3DED-BAA9-31CB37DFE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BAC5A-AB3B-6E8C-84F3-2A814370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1B8487-A34B-6F7A-F4C1-5B4293C7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3CAE05-7782-821D-D17E-B27A2093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07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2D1A03-D219-6A71-8873-625674B9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035A9C-8397-3EF9-F6C5-D9127DE19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7ED8A3-71B6-5427-25F5-3AE18D70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B5286B-6F9D-5E14-7726-A53AD92C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041D44-9144-A5A4-738F-57395078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61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5511EE-57B5-E190-B280-DC28E605B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DBA37C-ED66-4B54-FB93-79F0EDB80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1AD01D-9030-BA9E-ED4A-8EF0D9DA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D15BAC-B546-EFB6-F763-10387643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65D8E0-33BE-D317-306F-0C88F3D6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817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961B03-11AD-43F8-838E-7ACD7E94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4EC6CD-A146-5C0B-E3DD-C1306A22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35153A-BB49-719D-480E-22DA93197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04FDC-7161-4189-997E-48CA8E6DBF4D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0EAE1-9056-CC8C-9AF8-D0204859F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93F56B-25B0-8279-244B-C47757400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5042B-79F8-4B52-9E65-CE134F4154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74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7A922-9F2E-40F3-8B70-D241EC9E7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2837"/>
          </a:xfrm>
        </p:spPr>
        <p:txBody>
          <a:bodyPr>
            <a:normAutofit/>
          </a:bodyPr>
          <a:lstStyle/>
          <a:p>
            <a:r>
              <a:rPr lang="de-DE" dirty="0"/>
              <a:t>Digitale Immobilienplattform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B8DC54-AEC7-35F2-C6FF-6A7E2B420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6789"/>
            <a:ext cx="9144000" cy="2887579"/>
          </a:xfrm>
        </p:spPr>
        <p:txBody>
          <a:bodyPr>
            <a:normAutofit/>
          </a:bodyPr>
          <a:lstStyle/>
          <a:p>
            <a:r>
              <a:rPr lang="de-DE" dirty="0"/>
              <a:t>Großes/Langfristiges Ziel: </a:t>
            </a:r>
            <a:r>
              <a:rPr lang="de-DE" dirty="0">
                <a:solidFill>
                  <a:srgbClr val="FF0000"/>
                </a:solidFill>
              </a:rPr>
              <a:t>-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Marktdaten erlangen</a:t>
            </a:r>
          </a:p>
          <a:p>
            <a:r>
              <a:rPr lang="de-DE" dirty="0"/>
              <a:t>				</a:t>
            </a:r>
            <a:r>
              <a:rPr lang="de-DE" dirty="0">
                <a:solidFill>
                  <a:srgbClr val="FF0000"/>
                </a:solidFill>
              </a:rPr>
              <a:t>-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Management anbieten</a:t>
            </a:r>
          </a:p>
          <a:p>
            <a:r>
              <a:rPr lang="de-DE" dirty="0"/>
              <a:t>          				- intransparente Märkte durchleuchten			 </a:t>
            </a:r>
            <a:r>
              <a:rPr lang="de-DE" dirty="0">
                <a:solidFill>
                  <a:srgbClr val="FF0000"/>
                </a:solidFill>
              </a:rPr>
              <a:t>(Äthiopien, Kenia, Tansania)</a:t>
            </a:r>
          </a:p>
        </p:txBody>
      </p:sp>
    </p:spTree>
    <p:extLst>
      <p:ext uri="{BB962C8B-B14F-4D97-AF65-F5344CB8AC3E}">
        <p14:creationId xmlns:p14="http://schemas.microsoft.com/office/powerpoint/2010/main" val="300182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D1B1E-6CDB-67F4-8AFE-E9134536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Problemdefinition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070F80-B619-CCB0-E482-652F91D5F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198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de-DE" sz="6200" b="1" dirty="0"/>
              <a:t>1. Mangel an strukturierten Marktdaten</a:t>
            </a:r>
          </a:p>
          <a:p>
            <a:pPr marL="0" indent="0">
              <a:buNone/>
            </a:pPr>
            <a:r>
              <a:rPr lang="de-DE" sz="6200" dirty="0"/>
              <a:t>	- Daten zu Preisen, Nachfrage, Leerständen etc.</a:t>
            </a:r>
          </a:p>
          <a:p>
            <a:pPr marL="0" indent="0">
              <a:buNone/>
            </a:pPr>
            <a:r>
              <a:rPr lang="de-DE" sz="6200" b="1" dirty="0"/>
              <a:t>2. Unprofessionelles Immobilienmanagement</a:t>
            </a:r>
          </a:p>
          <a:p>
            <a:pPr marL="0" indent="0">
              <a:buNone/>
            </a:pPr>
            <a:r>
              <a:rPr lang="de-DE" sz="6200" dirty="0"/>
              <a:t>	- Keine Systeme für Mietabrechnung, Instandhaltung, Kommunikation etc.</a:t>
            </a:r>
          </a:p>
          <a:p>
            <a:pPr marL="0" indent="0">
              <a:buNone/>
            </a:pPr>
            <a:r>
              <a:rPr lang="de-DE" sz="6200" b="1" dirty="0"/>
              <a:t>3. Unzureichende Digitalisierung in der Immobiliensuche</a:t>
            </a:r>
          </a:p>
          <a:p>
            <a:pPr marL="0" indent="0">
              <a:buNone/>
            </a:pPr>
            <a:r>
              <a:rPr lang="de-DE" sz="6200" dirty="0"/>
              <a:t>	- Inoffizielle Kanäle und keine Verifizierung also hohes Betrugsrisiko </a:t>
            </a:r>
          </a:p>
          <a:p>
            <a:pPr marL="0" indent="0">
              <a:buNone/>
            </a:pPr>
            <a:r>
              <a:rPr lang="de-DE" sz="6200" b="1" dirty="0"/>
              <a:t>4. Kein länderübergreifender Überblick</a:t>
            </a:r>
          </a:p>
          <a:p>
            <a:pPr marL="0" indent="0">
              <a:buNone/>
            </a:pPr>
            <a:r>
              <a:rPr lang="de-DE" sz="6200" dirty="0"/>
              <a:t>	- keine zentrale Plattform</a:t>
            </a:r>
          </a:p>
          <a:p>
            <a:pPr marL="0" indent="0">
              <a:buNone/>
            </a:pPr>
            <a:r>
              <a:rPr lang="de-DE" sz="6200" b="1" dirty="0"/>
              <a:t>5. Hoher Bedarf an skalierbaren Verwaltungsservices</a:t>
            </a:r>
          </a:p>
          <a:p>
            <a:pPr marL="0" indent="0">
              <a:buNone/>
            </a:pPr>
            <a:r>
              <a:rPr lang="de-DE" sz="6200" dirty="0"/>
              <a:t> 	- fehlende professionelle Property-Management-Angebote</a:t>
            </a:r>
          </a:p>
          <a:p>
            <a:pPr marL="0" indent="0">
              <a:buNone/>
            </a:pPr>
            <a:r>
              <a:rPr lang="de-DE" sz="5000" dirty="0"/>
              <a:t>	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2468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0D4464-D501-219D-4FF5-CF844B8F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</a:t>
            </a:r>
            <a:r>
              <a:rPr lang="de-DE" sz="4800" dirty="0"/>
              <a:t>Nutzerversprechen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626D2F-FF74-D69F-3ABB-C7C399623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dirty="0"/>
              <a:t>1. Für Wohnungssuchende &amp; Käufer/innen</a:t>
            </a:r>
          </a:p>
          <a:p>
            <a:pPr marL="0" indent="0">
              <a:buNone/>
            </a:pPr>
            <a:r>
              <a:rPr lang="de-DE" sz="2000" dirty="0"/>
              <a:t>	- verifizierte Angebote, Transparenz, Mobile </a:t>
            </a:r>
            <a:r>
              <a:rPr lang="de-DE" sz="2000" dirty="0" err="1"/>
              <a:t>first</a:t>
            </a:r>
            <a:endParaRPr lang="de-DE" sz="2000" dirty="0"/>
          </a:p>
          <a:p>
            <a:pPr marL="0" indent="0">
              <a:buNone/>
            </a:pPr>
            <a:r>
              <a:rPr lang="de-DE" sz="2400" b="1" dirty="0"/>
              <a:t>2. Für Eigentümer/innen &amp; Vermieter/innen</a:t>
            </a:r>
          </a:p>
          <a:p>
            <a:pPr marL="0" indent="0">
              <a:buNone/>
            </a:pPr>
            <a:r>
              <a:rPr lang="de-DE" sz="2000" dirty="0"/>
              <a:t>	- Mieterhistorie, Objektverwaltung, </a:t>
            </a:r>
            <a:r>
              <a:rPr lang="de-DE" sz="2000" dirty="0" err="1"/>
              <a:t>Predictive</a:t>
            </a:r>
            <a:r>
              <a:rPr lang="de-DE" sz="2000" dirty="0"/>
              <a:t> Analytics</a:t>
            </a:r>
          </a:p>
          <a:p>
            <a:pPr marL="0" indent="0">
              <a:buNone/>
            </a:pPr>
            <a:r>
              <a:rPr lang="de-DE" sz="2400" b="1" dirty="0"/>
              <a:t>3. Für Investoren &amp; Projektentwickler </a:t>
            </a:r>
          </a:p>
          <a:p>
            <a:pPr marL="0" indent="0">
              <a:buNone/>
            </a:pPr>
            <a:r>
              <a:rPr lang="de-DE" sz="2000" dirty="0"/>
              <a:t>	- Marktdaten &amp; Nachfrageanalyse, Portfolio-Management- Tools</a:t>
            </a:r>
          </a:p>
          <a:p>
            <a:pPr marL="0" indent="0">
              <a:buNone/>
            </a:pPr>
            <a:r>
              <a:rPr lang="de-DE" sz="2400" b="1" dirty="0"/>
              <a:t>4. Für die Plattform selbst (B2B-Modell)</a:t>
            </a:r>
          </a:p>
          <a:p>
            <a:pPr marL="0" indent="0">
              <a:buNone/>
            </a:pPr>
            <a:r>
              <a:rPr lang="de-DE" sz="2000" dirty="0"/>
              <a:t>	- Monetarisierung durch Daten, Managementdienste, Premium Listings, SaaS-Modelle</a:t>
            </a:r>
          </a:p>
        </p:txBody>
      </p:sp>
    </p:spTree>
    <p:extLst>
      <p:ext uri="{BB962C8B-B14F-4D97-AF65-F5344CB8AC3E}">
        <p14:creationId xmlns:p14="http://schemas.microsoft.com/office/powerpoint/2010/main" val="151905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E30307-CD98-E4FA-CCF9-3AB90ABD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C0044C-5EA8-2EFB-22CC-A07F38B06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de-DE" sz="2400" b="1" dirty="0"/>
              <a:t>Privatpersonen auf Immobiliensuche</a:t>
            </a:r>
            <a:r>
              <a:rPr lang="de-DE" sz="2400" dirty="0"/>
              <a:t> (Mieter/innen &amp; Käufer/innen)</a:t>
            </a:r>
          </a:p>
          <a:p>
            <a:pPr marL="457200" lvl="1" indent="0">
              <a:buNone/>
            </a:pPr>
            <a:r>
              <a:rPr lang="de-DE" sz="2000" b="1" dirty="0"/>
              <a:t>Merkmale</a:t>
            </a:r>
            <a:r>
              <a:rPr lang="de-DE" sz="2000" dirty="0"/>
              <a:t>:	- (18-35 Jahre), Mobil unterwegs, digital-affin, meist budgetorientiert</a:t>
            </a:r>
          </a:p>
          <a:p>
            <a:pPr marL="457200" lvl="1" indent="0">
              <a:buNone/>
            </a:pPr>
            <a:r>
              <a:rPr lang="de-DE" sz="2000" dirty="0"/>
              <a:t>		- Stadtmenschen ( Addis, Nairobi, Dar es Salaam)</a:t>
            </a:r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r>
              <a:rPr lang="de-DE" sz="2000" b="1" dirty="0"/>
              <a:t>Schmerzpunkte: 	- </a:t>
            </a:r>
            <a:r>
              <a:rPr lang="de-DE" sz="2000" dirty="0"/>
              <a:t>Kein Zugang zu verlässlichen Wohnungsinseraten</a:t>
            </a:r>
          </a:p>
          <a:p>
            <a:pPr marL="457200" lvl="1" indent="0">
              <a:buNone/>
            </a:pPr>
            <a:r>
              <a:rPr lang="de-DE" sz="2000" dirty="0"/>
              <a:t>			- Abhängigkeit von sozialen Netzwerken &amp; Maklern</a:t>
            </a:r>
          </a:p>
          <a:p>
            <a:pPr marL="457200" lvl="1" indent="0">
              <a:buNone/>
            </a:pPr>
            <a:r>
              <a:rPr lang="de-DE" sz="2000" dirty="0"/>
              <a:t>			- Fehlende Preistransparenz</a:t>
            </a:r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r>
              <a:rPr lang="de-DE" sz="2000" b="1" dirty="0"/>
              <a:t>Was sie brauchen:	- </a:t>
            </a:r>
            <a:r>
              <a:rPr lang="de-DE" sz="2000" dirty="0"/>
              <a:t>Mobile App, einfach und offline-tauglich</a:t>
            </a:r>
          </a:p>
          <a:p>
            <a:pPr marL="457200" lvl="1" indent="0">
              <a:buNone/>
            </a:pPr>
            <a:r>
              <a:rPr lang="de-DE" sz="2000" dirty="0"/>
              <a:t>			- Preisvergleich, Lage und Verfügbarkeitsdaten</a:t>
            </a:r>
          </a:p>
          <a:p>
            <a:pPr marL="457200" lvl="1" indent="0">
              <a:buNone/>
            </a:pPr>
            <a:r>
              <a:rPr lang="de-DE" sz="2000" dirty="0"/>
              <a:t>			- Verifizierte Anbieter und direkte Kontaktoption</a:t>
            </a:r>
          </a:p>
          <a:p>
            <a:pPr marL="457200" lvl="1" indent="0">
              <a:buNone/>
            </a:pPr>
            <a:r>
              <a:rPr lang="de-DE" sz="2000" dirty="0"/>
              <a:t>		</a:t>
            </a:r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7282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3DEF8-6BFC-BF51-BE0F-F897C6C9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9F725E-F93F-8B7E-6184-898F6DAC3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b="1" dirty="0"/>
              <a:t>2. 	Diaspora-Investor/innen und Expat-Wohnraumsuchende</a:t>
            </a:r>
          </a:p>
          <a:p>
            <a:pPr marL="0" indent="0">
              <a:buNone/>
            </a:pPr>
            <a:r>
              <a:rPr lang="de-DE" sz="2000" b="1" dirty="0"/>
              <a:t>	Merkmale:   </a:t>
            </a:r>
            <a:r>
              <a:rPr lang="de-DE" sz="2000" dirty="0"/>
              <a:t>- Leben im Ausland v.a. Europa, USA, Kanada</a:t>
            </a:r>
          </a:p>
          <a:p>
            <a:pPr marL="0" indent="0">
              <a:buNone/>
            </a:pPr>
            <a:r>
              <a:rPr lang="de-DE" sz="2000" dirty="0"/>
              <a:t>	         	         - Internationale Expats (NGOs, Entwicklungsagenturen, Unternehmen)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b="1" dirty="0"/>
              <a:t>	Schmerzpunkte:</a:t>
            </a:r>
            <a:r>
              <a:rPr lang="de-DE" sz="2000" dirty="0"/>
              <a:t> 	- fehlende Transparenz bei Preisen und Anbieterqualität</a:t>
            </a:r>
          </a:p>
          <a:p>
            <a:pPr marL="0" indent="0">
              <a:buNone/>
            </a:pPr>
            <a:r>
              <a:rPr lang="de-DE" sz="2000" dirty="0"/>
              <a:t>				- Unsicherheit bei der Verwaltung  vermieteter Immobilien</a:t>
            </a:r>
            <a:r>
              <a:rPr lang="de-DE" sz="2400" dirty="0"/>
              <a:t>	</a:t>
            </a:r>
          </a:p>
          <a:p>
            <a:pPr marL="0" indent="0">
              <a:buNone/>
            </a:pPr>
            <a:r>
              <a:rPr lang="de-DE" sz="2000" dirty="0"/>
              <a:t>				- Kommunikationshürden (Zeitverschiebung, Vertrauen)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sz="2000" b="1" dirty="0"/>
              <a:t>	Was sie brauchen: 	</a:t>
            </a:r>
            <a:r>
              <a:rPr lang="de-DE" sz="2000" dirty="0"/>
              <a:t>- Remote fähige Property-Management-Tools</a:t>
            </a:r>
          </a:p>
          <a:p>
            <a:pPr marL="0" indent="0">
              <a:buNone/>
            </a:pPr>
            <a:r>
              <a:rPr lang="de-DE" sz="2000" dirty="0"/>
              <a:t>				- Live Daten zur Marktentwicklung</a:t>
            </a:r>
          </a:p>
          <a:p>
            <a:pPr marL="0" indent="0">
              <a:buNone/>
            </a:pPr>
            <a:r>
              <a:rPr lang="de-DE" sz="2000" dirty="0"/>
              <a:t>				- Rechts- und Treuhandservices für Käufe und Verwaltung</a:t>
            </a: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90049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99319-57FC-7D2B-3FAA-57685190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968"/>
            <a:ext cx="10515600" cy="1325563"/>
          </a:xfrm>
        </p:spPr>
        <p:txBody>
          <a:bodyPr>
            <a:normAutofit/>
          </a:bodyPr>
          <a:lstStyle/>
          <a:p>
            <a:r>
              <a:rPr lang="de-DE" sz="3600" dirty="0"/>
              <a:t>			</a:t>
            </a:r>
            <a:r>
              <a:rPr lang="de-DE" dirty="0"/>
              <a:t>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7030F-C60A-6E1F-F819-738672E20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43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b="1" dirty="0"/>
              <a:t>3. 	Lokale Vermieter/innen &amp; Eigentümer kleiner Portfolios</a:t>
            </a:r>
          </a:p>
          <a:p>
            <a:pPr marL="0" indent="0">
              <a:buNone/>
            </a:pPr>
            <a:r>
              <a:rPr lang="de-DE" sz="2400" b="1" dirty="0"/>
              <a:t>	</a:t>
            </a:r>
            <a:r>
              <a:rPr lang="de-DE" sz="2000" b="1" dirty="0"/>
              <a:t>Merkmale</a:t>
            </a:r>
            <a:r>
              <a:rPr lang="de-DE" sz="2400" b="1" dirty="0"/>
              <a:t>: </a:t>
            </a:r>
            <a:r>
              <a:rPr lang="de-DE" sz="2000" dirty="0"/>
              <a:t>- Einzelpersonen oder Familien mit 1-5 Mietobjekten</a:t>
            </a:r>
          </a:p>
          <a:p>
            <a:pPr marL="0" indent="0">
              <a:buNone/>
            </a:pPr>
            <a:r>
              <a:rPr lang="de-DE" sz="2000" dirty="0"/>
              <a:t>		        - Organisieren alles manuell ( Excel, Notizbuch) 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/>
              <a:t>	</a:t>
            </a:r>
            <a:r>
              <a:rPr lang="de-DE" sz="2000" b="1" dirty="0"/>
              <a:t>Schmerzpunkte</a:t>
            </a:r>
            <a:r>
              <a:rPr lang="de-DE" sz="2000" dirty="0"/>
              <a:t>: 	- Hoher Leerstand, unregelmäßige Mietzahlungen</a:t>
            </a:r>
          </a:p>
          <a:p>
            <a:pPr marL="0" indent="0">
              <a:buNone/>
            </a:pPr>
            <a:r>
              <a:rPr lang="de-DE" sz="2000" dirty="0"/>
              <a:t>				- Kein strukturiertes Wartungsmanagement</a:t>
            </a:r>
          </a:p>
          <a:p>
            <a:pPr marL="0" indent="0">
              <a:buNone/>
            </a:pPr>
            <a:r>
              <a:rPr lang="de-DE" sz="2000" dirty="0"/>
              <a:t>				- Keine Möglichkeit zur Skalierung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/>
              <a:t>	</a:t>
            </a:r>
            <a:r>
              <a:rPr lang="de-DE" sz="2000" b="1" dirty="0"/>
              <a:t>Was sie brauchen: </a:t>
            </a:r>
            <a:r>
              <a:rPr lang="de-DE" sz="2000" dirty="0"/>
              <a:t>	- Einfache digitale Verwaltungs-Tools</a:t>
            </a:r>
          </a:p>
          <a:p>
            <a:pPr marL="0" indent="0">
              <a:buNone/>
            </a:pPr>
            <a:r>
              <a:rPr lang="de-DE" sz="2000" dirty="0"/>
              <a:t>				- Zahlungstracking, Mietverträge, Wartungslogistik</a:t>
            </a:r>
          </a:p>
          <a:p>
            <a:pPr marL="0" indent="0">
              <a:buNone/>
            </a:pPr>
            <a:r>
              <a:rPr lang="de-DE" sz="2000" dirty="0"/>
              <a:t>				- Dashboard zur Einnahmeübersicht</a:t>
            </a:r>
          </a:p>
        </p:txBody>
      </p:sp>
    </p:spTree>
    <p:extLst>
      <p:ext uri="{BB962C8B-B14F-4D97-AF65-F5344CB8AC3E}">
        <p14:creationId xmlns:p14="http://schemas.microsoft.com/office/powerpoint/2010/main" val="159820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93284-CE2B-4C25-8C97-1339F22B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B837EC-9276-EC57-9F1C-5E5E93431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4"/>
            </a:pPr>
            <a:r>
              <a:rPr lang="de-DE" sz="2400" b="1" dirty="0"/>
              <a:t>Bauträger, Immobilienentwickler, Investoren &amp; Banken</a:t>
            </a:r>
          </a:p>
          <a:p>
            <a:pPr marL="457200" lvl="1" indent="0">
              <a:buNone/>
            </a:pPr>
            <a:r>
              <a:rPr lang="de-DE" sz="2000" b="1" dirty="0"/>
              <a:t>Merkmale</a:t>
            </a:r>
            <a:r>
              <a:rPr lang="de-DE" sz="2000" dirty="0"/>
              <a:t>:	- Lokale Bauunternehmer, Fonds, Investoren</a:t>
            </a:r>
          </a:p>
          <a:p>
            <a:pPr marL="457200" lvl="1" indent="0">
              <a:buNone/>
            </a:pPr>
            <a:r>
              <a:rPr lang="de-DE" sz="2000" b="1" dirty="0"/>
              <a:t>		</a:t>
            </a:r>
            <a:r>
              <a:rPr lang="de-DE" sz="2000" dirty="0"/>
              <a:t>- Wohnsiedlungen, Apartments</a:t>
            </a:r>
          </a:p>
          <a:p>
            <a:pPr marL="457200" lvl="1" indent="0">
              <a:buNone/>
            </a:pPr>
            <a:r>
              <a:rPr lang="de-DE" sz="2000" dirty="0"/>
              <a:t>		-  Arbeiten Datenbasiert (wenn verfügbar)</a:t>
            </a:r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r>
              <a:rPr lang="de-DE" sz="2000" b="1" dirty="0"/>
              <a:t>Schmerzpunkte</a:t>
            </a:r>
            <a:r>
              <a:rPr lang="de-DE" sz="2000" dirty="0"/>
              <a:t>:	- Fehlende Daten zur Nachfragentwicklung</a:t>
            </a:r>
          </a:p>
          <a:p>
            <a:pPr marL="457200" lvl="1" indent="0">
              <a:buNone/>
            </a:pPr>
            <a:r>
              <a:rPr lang="de-DE" sz="2000" dirty="0"/>
              <a:t>			- Keine Vergleichswerte zu Mieten, Absorption, Leerstand</a:t>
            </a:r>
          </a:p>
          <a:p>
            <a:pPr marL="457200" lvl="1" indent="0">
              <a:buNone/>
            </a:pPr>
            <a:r>
              <a:rPr lang="de-DE" sz="2000" dirty="0"/>
              <a:t>			- Manuelle Marktanalysen, zeitaufwändig und ungenau</a:t>
            </a:r>
          </a:p>
          <a:p>
            <a:pPr marL="457200" lvl="1" indent="0">
              <a:buNone/>
            </a:pPr>
            <a:endParaRPr lang="de-DE" sz="2000" dirty="0"/>
          </a:p>
          <a:p>
            <a:pPr marL="457200" lvl="1" indent="0">
              <a:buNone/>
            </a:pPr>
            <a:r>
              <a:rPr lang="de-DE" sz="2000" b="1" dirty="0"/>
              <a:t>Was sie brauchen</a:t>
            </a:r>
            <a:r>
              <a:rPr lang="de-DE" sz="2000" dirty="0"/>
              <a:t>: 	- </a:t>
            </a:r>
            <a:r>
              <a:rPr lang="de-DE" sz="2000" dirty="0" err="1"/>
              <a:t>Heatmaps</a:t>
            </a:r>
            <a:r>
              <a:rPr lang="de-DE" sz="2000" dirty="0"/>
              <a:t> zu Nachfrage-Hotspots</a:t>
            </a:r>
          </a:p>
          <a:p>
            <a:pPr marL="457200" lvl="1" indent="0">
              <a:buNone/>
            </a:pPr>
            <a:r>
              <a:rPr lang="de-DE" sz="2000" dirty="0"/>
              <a:t>			-  </a:t>
            </a:r>
            <a:r>
              <a:rPr lang="de-DE" sz="2000" dirty="0" err="1"/>
              <a:t>Miet</a:t>
            </a:r>
            <a:r>
              <a:rPr lang="de-DE" sz="2000" dirty="0"/>
              <a:t> und Preisprognosen auf Stadtteilebene</a:t>
            </a:r>
          </a:p>
          <a:p>
            <a:pPr marL="457200" lvl="1" indent="0">
              <a:buNone/>
            </a:pPr>
            <a:r>
              <a:rPr lang="de-DE" sz="2000" dirty="0"/>
              <a:t>			- Reports zur Standort und Marktanalyse</a:t>
            </a:r>
          </a:p>
          <a:p>
            <a:pPr marL="0" indent="0">
              <a:buNone/>
            </a:pP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200283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A5F25-0B08-690C-7B7C-FAB0A3DB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Ostafrika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D7BE4E-B0B4-E0B2-6B89-12BC3F7E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200" dirty="0"/>
              <a:t>Kategorie | Status quo (2024–2025) | Prognose bis 2030</a:t>
            </a:r>
          </a:p>
          <a:p>
            <a:pPr marL="0" indent="0">
              <a:buNone/>
            </a:pPr>
            <a:r>
              <a:rPr lang="de-DE" sz="1200" dirty="0"/>
              <a:t>👥 Bevölkerung | Gesamt (2024): Äthiopien: ~125 </a:t>
            </a:r>
            <a:r>
              <a:rPr lang="de-DE" sz="1200" dirty="0" err="1"/>
              <a:t>Mio</a:t>
            </a:r>
            <a:r>
              <a:rPr lang="de-DE" sz="1200" dirty="0"/>
              <a:t> Kenia: ~56 </a:t>
            </a:r>
            <a:r>
              <a:rPr lang="de-DE" sz="1200" dirty="0" err="1"/>
              <a:t>Mio</a:t>
            </a:r>
            <a:r>
              <a:rPr lang="de-DE" sz="1200" dirty="0"/>
              <a:t> Tansania: ~65 </a:t>
            </a:r>
            <a:r>
              <a:rPr lang="de-DE" sz="1200" dirty="0" err="1"/>
              <a:t>Mio</a:t>
            </a:r>
            <a:r>
              <a:rPr lang="de-DE" sz="1200" dirty="0"/>
              <a:t> | Äthiopien: ~140 </a:t>
            </a:r>
            <a:r>
              <a:rPr lang="de-DE" sz="1200" dirty="0" err="1"/>
              <a:t>Mio</a:t>
            </a:r>
            <a:r>
              <a:rPr lang="de-DE" sz="1200" dirty="0"/>
              <a:t> Kenia: ~67 </a:t>
            </a:r>
            <a:r>
              <a:rPr lang="de-DE" sz="1200" dirty="0" err="1"/>
              <a:t>Mio</a:t>
            </a:r>
            <a:r>
              <a:rPr lang="de-DE" sz="1200" dirty="0"/>
              <a:t> Tansania: ~80 </a:t>
            </a:r>
            <a:r>
              <a:rPr lang="de-DE" sz="1200" dirty="0" err="1"/>
              <a:t>Mio</a:t>
            </a:r>
            <a:r>
              <a:rPr lang="de-DE" sz="1200" dirty="0"/>
              <a:t> 🌍 +20–25% Wachstum</a:t>
            </a:r>
          </a:p>
          <a:p>
            <a:pPr marL="0" indent="0">
              <a:buNone/>
            </a:pPr>
            <a:r>
              <a:rPr lang="de-DE" sz="1200" dirty="0"/>
              <a:t>🏙 Urbanisierungsgrad | Äthiopien: ~22% Kenia: ~28% Tansania: ~35% | Alle 3 Länder bei &gt;40–45% Urbanisierungsrate durch starke Landflucht</a:t>
            </a:r>
          </a:p>
          <a:p>
            <a:pPr marL="0" indent="0">
              <a:buNone/>
            </a:pPr>
            <a:r>
              <a:rPr lang="de-DE" sz="1200" dirty="0"/>
              <a:t>🏘 Wohnungsnachfrage | Addis, Nairobi &amp; Dar: geschätzt &gt;1,5 </a:t>
            </a:r>
            <a:r>
              <a:rPr lang="de-DE" sz="1200" dirty="0" err="1"/>
              <a:t>Mio</a:t>
            </a:r>
            <a:r>
              <a:rPr lang="de-DE" sz="1200" dirty="0"/>
              <a:t> Miettransaktionen jährlich | &gt;2,5 </a:t>
            </a:r>
            <a:r>
              <a:rPr lang="de-DE" sz="1200" dirty="0" err="1"/>
              <a:t>Mio</a:t>
            </a:r>
            <a:r>
              <a:rPr lang="de-DE" sz="1200" dirty="0"/>
              <a:t> Transaktionen p.a. durch Bevölkerungsdruck &amp; neue Mittelschicht</a:t>
            </a:r>
          </a:p>
          <a:p>
            <a:pPr marL="0" indent="0">
              <a:buNone/>
            </a:pPr>
            <a:r>
              <a:rPr lang="de-DE" sz="1200" dirty="0"/>
              <a:t>📶 Internetpenetration (gesamt) | Äthiopien: ~35% Kenia: ~55–60% Tansania: ~45% | Äthiopien: ~65% Kenia: &gt;85% Tansania: ~70% 📲 Mobiler Internetzugang dominiert</a:t>
            </a:r>
          </a:p>
          <a:p>
            <a:pPr marL="0" indent="0">
              <a:buNone/>
            </a:pPr>
            <a:r>
              <a:rPr lang="de-DE" sz="1200" dirty="0"/>
              <a:t>📱 Smartphone-Nutzung | Äthiopien: ~45% Kenia: ~75% Tansania: ~55% | Überall &gt;70%, bei Jüngeren (18–35) sogar &gt;90%</a:t>
            </a:r>
          </a:p>
          <a:p>
            <a:pPr marL="0" indent="0">
              <a:buNone/>
            </a:pPr>
            <a:r>
              <a:rPr lang="de-DE" sz="1200" dirty="0"/>
              <a:t>💸 Mobile-Payment-Nutzung | Kenia führend (M-Pesa, ~96% urban) Tansania (</a:t>
            </a:r>
            <a:r>
              <a:rPr lang="de-DE" sz="1200" dirty="0" err="1"/>
              <a:t>TigoPesa</a:t>
            </a:r>
            <a:r>
              <a:rPr lang="de-DE" sz="1200" dirty="0"/>
              <a:t>, </a:t>
            </a:r>
            <a:r>
              <a:rPr lang="de-DE" sz="1200" dirty="0" err="1"/>
              <a:t>Airtel</a:t>
            </a:r>
            <a:r>
              <a:rPr lang="de-DE" sz="1200" dirty="0"/>
              <a:t> Money ~60%) Äthiopien (</a:t>
            </a:r>
            <a:r>
              <a:rPr lang="de-DE" sz="1200" dirty="0" err="1"/>
              <a:t>Telebirr</a:t>
            </a:r>
            <a:r>
              <a:rPr lang="de-DE" sz="1200" dirty="0"/>
              <a:t>: ~30%) | In allen Ländern &gt;80%, integrierte Zahlungen als Standard</a:t>
            </a:r>
          </a:p>
          <a:p>
            <a:pPr marL="0" indent="0">
              <a:buNone/>
            </a:pPr>
            <a:r>
              <a:rPr lang="de-DE" sz="1200" dirty="0"/>
              <a:t>🏗 Immobilienentwicklungen | Fokus auf Mittel- &amp; Oberklasse (oft unverkauft) Geringes Angebot im unteren Segment | Trend zu bezahlbarem Wohnen, Mikrowohneinheiten, Smart Buildings</a:t>
            </a:r>
          </a:p>
          <a:p>
            <a:pPr marL="0" indent="0">
              <a:buNone/>
            </a:pPr>
            <a:r>
              <a:rPr lang="de-DE" sz="1200" dirty="0"/>
              <a:t>📈 </a:t>
            </a:r>
            <a:r>
              <a:rPr lang="de-DE" sz="1200" dirty="0" err="1"/>
              <a:t>PropTech</a:t>
            </a:r>
            <a:r>
              <a:rPr lang="de-DE" sz="1200" dirty="0"/>
              <a:t>-Entwicklung | Erste Plattformen (v. a. in Kenia), meist Listings ohne Datenintegration | Zunehmende Verknüpfung von Plattform, Verwaltung &amp; Marktanalyse (B2B + B2C)</a:t>
            </a:r>
          </a:p>
          <a:p>
            <a:pPr marL="0" indent="0">
              <a:buNone/>
            </a:pPr>
            <a:r>
              <a:rPr lang="de-DE" sz="1200" dirty="0"/>
              <a:t>📉 Leerstandsquoten &amp; Ineffizienz | Hoch in Addis &amp; Nairobi (~20–30% bei Neuentwicklungen) | Reduktion durch bessere Datensteuerung &amp; Zielgruppenadaption</a:t>
            </a:r>
          </a:p>
        </p:txBody>
      </p:sp>
    </p:spTree>
    <p:extLst>
      <p:ext uri="{BB962C8B-B14F-4D97-AF65-F5344CB8AC3E}">
        <p14:creationId xmlns:p14="http://schemas.microsoft.com/office/powerpoint/2010/main" val="111207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F11CD1-D49B-ED94-DC5B-E80B2CBF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B23351-9F92-DDE0-6E6C-8F51A4F8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b="1" dirty="0"/>
              <a:t>Marktstruktur &amp; Entwicklungspotenzial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sz="2000" b="1" dirty="0"/>
              <a:t>Urbanisierung &amp; Entwicklungspotenzial </a:t>
            </a:r>
          </a:p>
          <a:p>
            <a:pPr marL="0" indent="0">
              <a:buNone/>
            </a:pPr>
            <a:r>
              <a:rPr lang="de-DE" sz="2000" dirty="0"/>
              <a:t>	- Steigende Bevölkerung und Urbanisierungsraten in allen drei Ländern</a:t>
            </a:r>
          </a:p>
          <a:p>
            <a:pPr marL="0" indent="0">
              <a:buNone/>
            </a:pPr>
            <a:r>
              <a:rPr lang="de-DE" sz="2000" dirty="0"/>
              <a:t>	- Bis  2030 werden über 40% der Bevölkerung in Städten leben – Addis, Nairobi, Dar	 </a:t>
            </a:r>
          </a:p>
          <a:p>
            <a:pPr marL="0" indent="0">
              <a:buNone/>
            </a:pPr>
            <a:r>
              <a:rPr lang="de-DE" sz="2000" dirty="0"/>
              <a:t>	- jährlicher Bedarf von mehreren hunderttausenden Wohneinheiten</a:t>
            </a:r>
          </a:p>
          <a:p>
            <a:pPr marL="0" indent="0">
              <a:buNone/>
            </a:pPr>
            <a:r>
              <a:rPr lang="de-DE" sz="2000" b="1" dirty="0"/>
              <a:t>	Wachsende Mittelschicht</a:t>
            </a:r>
          </a:p>
          <a:p>
            <a:pPr marL="0" indent="0">
              <a:buNone/>
            </a:pPr>
            <a:r>
              <a:rPr lang="de-DE" sz="2000" b="1" dirty="0"/>
              <a:t>	</a:t>
            </a:r>
            <a:r>
              <a:rPr lang="de-DE" sz="2000" dirty="0"/>
              <a:t>-</a:t>
            </a:r>
            <a:r>
              <a:rPr lang="de-DE" sz="2000" b="1" dirty="0"/>
              <a:t> </a:t>
            </a:r>
            <a:r>
              <a:rPr lang="de-DE" sz="2000" dirty="0"/>
              <a:t>Die aufstrebende Mittelschicht verlangt nach digital vermitteltem Wohnraum</a:t>
            </a:r>
          </a:p>
          <a:p>
            <a:pPr marL="0" indent="0">
              <a:buNone/>
            </a:pPr>
            <a:r>
              <a:rPr lang="de-DE" sz="2000" b="1" dirty="0"/>
              <a:t>	</a:t>
            </a:r>
            <a:r>
              <a:rPr lang="de-DE" sz="2000" dirty="0"/>
              <a:t>- Investoren/Diaspora benötigen professionell verwaltete Mietobjekte</a:t>
            </a:r>
          </a:p>
        </p:txBody>
      </p:sp>
    </p:spTree>
    <p:extLst>
      <p:ext uri="{BB962C8B-B14F-4D97-AF65-F5344CB8AC3E}">
        <p14:creationId xmlns:p14="http://schemas.microsoft.com/office/powerpoint/2010/main" val="228742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C74E9-6C87-E846-3DA3-A727FDC8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A1CD1F-E195-A89B-C5DA-FB39E8149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7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2</a:t>
            </a:r>
            <a:r>
              <a:rPr lang="de-DE" dirty="0"/>
              <a:t>. </a:t>
            </a:r>
            <a:r>
              <a:rPr lang="de-DE" b="1" dirty="0"/>
              <a:t>Marktprobleme (Status quo)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BED64CF-11BB-775C-1914-270F92DFC6A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460512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3987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/>
                        <a:t>Problemfeld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Beschreibung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857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Intransparenz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Keine zentrale Datenquelle für Preise, Leerstände, Nachfrage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16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Informelle Marktstruktur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Vermittlung meist offline oder über Social Media (Facebook, Telegram)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104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Ineffiziente Verwaltung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Vermieter:innen verwalten Mietverhältnisse händisch, oft ohne Mietverträge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7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Mangel an professionellem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Property- und Asset-Management kaum verfügbar oder nicht digitalisiert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70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289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4B925-65A3-1B7B-7DE3-DD2DEECB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DE2630-A191-9997-35B5-B022D6073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3. Marktpotenzial für deine Plattform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A913719-6589-1CDD-99E6-FA8323E53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214619"/>
              </p:ext>
            </p:extLst>
          </p:nvPr>
        </p:nvGraphicFramePr>
        <p:xfrm>
          <a:off x="838200" y="2538253"/>
          <a:ext cx="10515600" cy="310455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35547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98747987"/>
                    </a:ext>
                  </a:extLst>
                </a:gridCol>
              </a:tblGrid>
              <a:tr h="388070">
                <a:tc>
                  <a:txBody>
                    <a:bodyPr/>
                    <a:lstStyle/>
                    <a:p>
                      <a:r>
                        <a:rPr lang="de-DE"/>
                        <a:t>Kategorie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Potenzial (2025–2030)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1643"/>
                  </a:ext>
                </a:extLst>
              </a:tr>
              <a:tr h="679122">
                <a:tc>
                  <a:txBody>
                    <a:bodyPr/>
                    <a:lstStyle/>
                    <a:p>
                      <a:r>
                        <a:rPr lang="de-DE"/>
                        <a:t>📱 </a:t>
                      </a:r>
                      <a:r>
                        <a:rPr lang="de-DE" b="1"/>
                        <a:t>Digitale Immobiliensuche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&gt;2,5 Mio Transaktionen jährlich in den drei Hauptstädten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705551"/>
                  </a:ext>
                </a:extLst>
              </a:tr>
              <a:tr h="679122">
                <a:tc>
                  <a:txBody>
                    <a:bodyPr/>
                    <a:lstStyle/>
                    <a:p>
                      <a:r>
                        <a:rPr lang="de-DE"/>
                        <a:t>🏢 </a:t>
                      </a:r>
                      <a:r>
                        <a:rPr lang="de-DE" b="1"/>
                        <a:t>Property-Management-Markt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&gt;5 Mio private Mietobjekte – davon &gt;90% </a:t>
                      </a:r>
                      <a:r>
                        <a:rPr lang="de-DE" b="1"/>
                        <a:t>nicht professionell verwaltet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858508"/>
                  </a:ext>
                </a:extLst>
              </a:tr>
              <a:tr h="679122">
                <a:tc>
                  <a:txBody>
                    <a:bodyPr/>
                    <a:lstStyle/>
                    <a:p>
                      <a:r>
                        <a:rPr lang="de-DE"/>
                        <a:t>📊 </a:t>
                      </a:r>
                      <a:r>
                        <a:rPr lang="de-DE" b="1"/>
                        <a:t>Datenbasierte Immobilienservices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Immobilieninvestoren, Bauträger und Makler suchen </a:t>
                      </a:r>
                      <a:r>
                        <a:rPr lang="de-DE" b="1"/>
                        <a:t>datengetriebene Tools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810921"/>
                  </a:ext>
                </a:extLst>
              </a:tr>
              <a:tr h="679122">
                <a:tc>
                  <a:txBody>
                    <a:bodyPr/>
                    <a:lstStyle/>
                    <a:p>
                      <a:r>
                        <a:rPr lang="de-DE"/>
                        <a:t>💸 </a:t>
                      </a:r>
                      <a:r>
                        <a:rPr lang="de-DE" b="1"/>
                        <a:t>Zahlungsdienste &amp; Verwaltung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Mobile-Payment als Standard etabliert, Integration sehr erwünscht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70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53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66A00-7522-4D78-5722-2F2262A4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3E33FC-D90F-74CC-6813-C428AC1A2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4. Wettbewerbsumfeld (Äthiopien)</a:t>
            </a:r>
          </a:p>
          <a:p>
            <a:pPr marL="0" indent="0">
              <a:buNone/>
            </a:pPr>
            <a:r>
              <a:rPr lang="de-DE" b="1" dirty="0"/>
              <a:t>	</a:t>
            </a:r>
          </a:p>
          <a:p>
            <a:pPr marL="0" indent="0">
              <a:buNone/>
            </a:pPr>
            <a:r>
              <a:rPr lang="de-DE" b="1" dirty="0"/>
              <a:t>     </a:t>
            </a:r>
          </a:p>
          <a:p>
            <a:pPr marL="0" indent="0">
              <a:buNone/>
            </a:pPr>
            <a:endParaRPr lang="de-DE" sz="1200" b="1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841D37A8-1B95-80FC-268C-767C30BCD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75880"/>
              </p:ext>
            </p:extLst>
          </p:nvPr>
        </p:nvGraphicFramePr>
        <p:xfrm>
          <a:off x="838200" y="2367992"/>
          <a:ext cx="81279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72801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71501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4049646"/>
                    </a:ext>
                  </a:extLst>
                </a:gridCol>
              </a:tblGrid>
              <a:tr h="348227">
                <a:tc>
                  <a:txBody>
                    <a:bodyPr/>
                    <a:lstStyle/>
                    <a:p>
                      <a:r>
                        <a:rPr lang="de-DE" dirty="0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746146"/>
                  </a:ext>
                </a:extLst>
              </a:tr>
              <a:tr h="348227">
                <a:tc>
                  <a:txBody>
                    <a:bodyPr/>
                    <a:lstStyle/>
                    <a:p>
                      <a:r>
                        <a:rPr lang="de-DE" dirty="0" err="1"/>
                        <a:t>Bet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Delala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Mobile App vorhanden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Verifizierung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00548"/>
                  </a:ext>
                </a:extLst>
              </a:tr>
              <a:tr h="609398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Lokal etabliert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Mangelhafte Nutzererfahrung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42513"/>
                  </a:ext>
                </a:extLst>
              </a:tr>
              <a:tr h="60939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Günstiger Einstieg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Bewertungen,</a:t>
                      </a:r>
                    </a:p>
                    <a:p>
                      <a:r>
                        <a:rPr lang="de-DE" dirty="0"/>
                        <a:t>keine Datenanalyse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15253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DF154F-A8F8-462B-EEBF-F3301E8C2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86315"/>
              </p:ext>
            </p:extLst>
          </p:nvPr>
        </p:nvGraphicFramePr>
        <p:xfrm>
          <a:off x="838200" y="4379672"/>
          <a:ext cx="8127999" cy="2297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116">
                  <a:extLst>
                    <a:ext uri="{9D8B030D-6E8A-4147-A177-3AD203B41FA5}">
                      <a16:colId xmlns:a16="http://schemas.microsoft.com/office/drawing/2014/main" val="1872706286"/>
                    </a:ext>
                  </a:extLst>
                </a:gridCol>
                <a:gridCol w="2707550">
                  <a:extLst>
                    <a:ext uri="{9D8B030D-6E8A-4147-A177-3AD203B41FA5}">
                      <a16:colId xmlns:a16="http://schemas.microsoft.com/office/drawing/2014/main" val="23905324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12591674"/>
                    </a:ext>
                  </a:extLst>
                </a:gridCol>
              </a:tblGrid>
              <a:tr h="377524">
                <a:tc>
                  <a:txBody>
                    <a:bodyPr/>
                    <a:lstStyle/>
                    <a:p>
                      <a:r>
                        <a:rPr lang="de-DE" dirty="0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50089"/>
                  </a:ext>
                </a:extLst>
              </a:tr>
              <a:tr h="597924">
                <a:tc>
                  <a:txBody>
                    <a:bodyPr/>
                    <a:lstStyle/>
                    <a:p>
                      <a:r>
                        <a:rPr lang="de-DE" dirty="0" err="1"/>
                        <a:t>Sarrbet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Mobile App,</a:t>
                      </a:r>
                    </a:p>
                    <a:p>
                      <a:r>
                        <a:rPr lang="de-DE" dirty="0"/>
                        <a:t>Fokus auf Mietangebote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Geringe Marktbreite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607916"/>
                  </a:ext>
                </a:extLst>
              </a:tr>
              <a:tr h="5979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Gute Usability (auf Android)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Marktpreisvergleich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98741"/>
                  </a:ext>
                </a:extLst>
              </a:tr>
              <a:tr h="597924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Verwaltungs- oder Analysefunktion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626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509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AB39A-ECF6-4E26-8878-A1D9BB37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4204E6-EA51-0C0E-B0F5-55C87D50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4. Wettbewerbsumfeld (Kenia)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86026D0-3923-2176-E2D0-766CB841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997754"/>
              </p:ext>
            </p:extLst>
          </p:nvPr>
        </p:nvGraphicFramePr>
        <p:xfrm>
          <a:off x="838200" y="2316480"/>
          <a:ext cx="8127999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365326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50534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85146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63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BuyRentKenya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Größte Plattform in Kenia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Fokus auf Listings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0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Breite Angebotsdatenbank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integrierte Verwaltung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14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Markenbekanntheit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datenbasierter Service für Eigentümer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204633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D2C4C74-5FCC-83D4-D55D-78D7D2CDC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47325"/>
              </p:ext>
            </p:extLst>
          </p:nvPr>
        </p:nvGraphicFramePr>
        <p:xfrm>
          <a:off x="838199" y="4338320"/>
          <a:ext cx="8127999" cy="2329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070258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226358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71670417"/>
                    </a:ext>
                  </a:extLst>
                </a:gridCol>
              </a:tblGrid>
              <a:tr h="492908">
                <a:tc>
                  <a:txBody>
                    <a:bodyPr/>
                    <a:lstStyle/>
                    <a:p>
                      <a:r>
                        <a:rPr lang="de-DE" dirty="0"/>
                        <a:t>Plattform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455853"/>
                  </a:ext>
                </a:extLst>
              </a:tr>
              <a:tr h="492908">
                <a:tc>
                  <a:txBody>
                    <a:bodyPr/>
                    <a:lstStyle/>
                    <a:p>
                      <a:r>
                        <a:rPr lang="de-DE" dirty="0"/>
                        <a:t>Property24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Bekannt aus Südafrika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Geringe Lokalisierung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45859"/>
                  </a:ext>
                </a:extLst>
              </a:tr>
              <a:tr h="850773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Internationale UX-Standards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Mehrwertdienste (Management/Reports)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19240"/>
                  </a:ext>
                </a:extLst>
              </a:tr>
              <a:tr h="492908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Solide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B2C-zentriert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35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766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BBFE8-8B9D-6648-0E70-79CE9A0A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6E3A30-FA9C-EB48-C3B7-5523858A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4. Wettbewerbsumfeld (Tansania)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C23695C-881B-5108-84AE-19FF15C37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156362"/>
              </p:ext>
            </p:extLst>
          </p:nvPr>
        </p:nvGraphicFramePr>
        <p:xfrm>
          <a:off x="838200" y="2370221"/>
          <a:ext cx="81279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0273168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03836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2793517"/>
                    </a:ext>
                  </a:extLst>
                </a:gridCol>
              </a:tblGrid>
              <a:tr h="309933">
                <a:tc>
                  <a:txBody>
                    <a:bodyPr/>
                    <a:lstStyle/>
                    <a:p>
                      <a:r>
                        <a:rPr lang="de-DE" dirty="0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885817"/>
                  </a:ext>
                </a:extLst>
              </a:tr>
              <a:tr h="774834">
                <a:tc>
                  <a:txBody>
                    <a:bodyPr/>
                    <a:lstStyle/>
                    <a:p>
                      <a:r>
                        <a:rPr lang="de-DE" dirty="0" err="1"/>
                        <a:t>ZoomTanzania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Breites Kleinanzeigen-Portal </a:t>
                      </a:r>
                      <a:r>
                        <a:rPr lang="de-DE" dirty="0"/>
                        <a:t>(nicht nur Immobilien)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Fokus auf immobilien-UX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052923"/>
                  </a:ext>
                </a:extLst>
              </a:tr>
              <a:tr h="542384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Bekannt in urbanen Regionen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</a:t>
                      </a:r>
                      <a:r>
                        <a:rPr lang="de-DE" dirty="0" err="1"/>
                        <a:t>Kategorietiefe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443365"/>
                  </a:ext>
                </a:extLst>
              </a:tr>
              <a:tr h="309933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Keine Datentransparenz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720492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6A7A4718-B34F-7FAF-69A8-0D2C1AB47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901318"/>
              </p:ext>
            </p:extLst>
          </p:nvPr>
        </p:nvGraphicFramePr>
        <p:xfrm>
          <a:off x="838199" y="4702640"/>
          <a:ext cx="8127999" cy="2018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316981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601092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46302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de-DE" dirty="0"/>
                        <a:t>Plattform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Stärken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Schwächen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797750"/>
                  </a:ext>
                </a:extLst>
              </a:tr>
              <a:tr h="647319">
                <a:tc>
                  <a:txBody>
                    <a:bodyPr/>
                    <a:lstStyle/>
                    <a:p>
                      <a:r>
                        <a:rPr lang="de-DE" dirty="0" err="1"/>
                        <a:t>Kupatana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Eher als „</a:t>
                      </a:r>
                      <a:r>
                        <a:rPr lang="de-DE" dirty="0" err="1"/>
                        <a:t>Craiglist</a:t>
                      </a:r>
                      <a:r>
                        <a:rPr lang="de-DE" dirty="0"/>
                        <a:t>-Alternativ“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55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Niedrige </a:t>
                      </a:r>
                      <a:r>
                        <a:rPr lang="de-DE" dirty="0" err="1"/>
                        <a:t>Eintrittsbarierre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Angebote nicht verifiziert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59027"/>
                  </a:ext>
                </a:extLst>
              </a:tr>
              <a:tr h="571983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Vergleich, keine </a:t>
                      </a:r>
                      <a:r>
                        <a:rPr lang="de-DE" dirty="0" err="1"/>
                        <a:t>Insights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0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402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78D0A-AA86-29F3-50B9-C4402E91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03991-F9B0-B748-A8F7-DA9E8CDA5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0954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Unser strategischer Vorteil: </a:t>
            </a:r>
          </a:p>
          <a:p>
            <a:pPr marL="0" indent="0">
              <a:buNone/>
            </a:pPr>
            <a:r>
              <a:rPr lang="de-DE" sz="2000" dirty="0"/>
              <a:t>Die Konkurrenz </a:t>
            </a:r>
            <a:r>
              <a:rPr lang="de-DE" sz="2000" b="1" dirty="0"/>
              <a:t>fokussiert</a:t>
            </a:r>
            <a:r>
              <a:rPr lang="de-DE" sz="2000" dirty="0"/>
              <a:t> sich auf </a:t>
            </a:r>
            <a:r>
              <a:rPr lang="de-DE" sz="2000" b="1" dirty="0"/>
              <a:t>klassische Listings</a:t>
            </a:r>
            <a:r>
              <a:rPr lang="de-DE" sz="2000" dirty="0"/>
              <a:t>. Sie liefern keine </a:t>
            </a:r>
            <a:r>
              <a:rPr lang="de-DE" sz="2000" b="1" dirty="0"/>
              <a:t>Marktdaten</a:t>
            </a:r>
            <a:r>
              <a:rPr lang="de-DE" sz="2000" dirty="0"/>
              <a:t>, bieten keine </a:t>
            </a:r>
            <a:r>
              <a:rPr lang="de-DE" sz="2000" b="1" dirty="0"/>
              <a:t>Eigentümer- oder Verwaltungsservices</a:t>
            </a:r>
            <a:r>
              <a:rPr lang="de-DE" sz="2000" dirty="0"/>
              <a:t>, und sind nicht durchgängig </a:t>
            </a:r>
            <a:r>
              <a:rPr lang="de-DE" sz="2000" b="1" dirty="0"/>
              <a:t>mobil- oder nutzerzentriert.</a:t>
            </a:r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b="1" dirty="0"/>
              <a:t>Stärken unseres Modells im Vergleich:</a:t>
            </a:r>
          </a:p>
          <a:p>
            <a:pPr>
              <a:buFontTx/>
              <a:buChar char="-"/>
            </a:pPr>
            <a:r>
              <a:rPr lang="de-DE" sz="2000" dirty="0"/>
              <a:t>Vollständiges</a:t>
            </a:r>
            <a:r>
              <a:rPr lang="de-DE" dirty="0"/>
              <a:t> </a:t>
            </a:r>
            <a:r>
              <a:rPr lang="de-DE" sz="2000" dirty="0"/>
              <a:t>Ökosystem</a:t>
            </a:r>
          </a:p>
          <a:p>
            <a:pPr>
              <a:buFontTx/>
              <a:buChar char="-"/>
            </a:pPr>
            <a:r>
              <a:rPr lang="de-DE" sz="2000" dirty="0"/>
              <a:t>Datenbasiertes Eigentümer-Dashboard (KPI, Mietverlauf &amp; Wartung etc.)</a:t>
            </a:r>
          </a:p>
          <a:p>
            <a:pPr>
              <a:buFontTx/>
              <a:buChar char="-"/>
            </a:pPr>
            <a:r>
              <a:rPr lang="de-DE" sz="2000" dirty="0"/>
              <a:t>Verifizierte Anbieter &amp; Nutzerbewertungen</a:t>
            </a:r>
          </a:p>
          <a:p>
            <a:pPr>
              <a:buFontTx/>
              <a:buChar char="-"/>
            </a:pPr>
            <a:r>
              <a:rPr lang="de-DE" sz="2000" dirty="0"/>
              <a:t>Mehrsprachigkeit (Amharisch, englisch, Swahili)</a:t>
            </a:r>
          </a:p>
          <a:p>
            <a:pPr>
              <a:buFontTx/>
              <a:buChar char="-"/>
            </a:pPr>
            <a:r>
              <a:rPr lang="de-DE" sz="2000" dirty="0"/>
              <a:t>Integration mit Mobile-Payments &amp; digitaler Mietverwaltung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948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C2E9C-D888-DD85-2BAD-09FF00C7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Gesellschaftsform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1AFDB4-8049-87C5-51EB-9FE899E50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Standort: Dubai</a:t>
            </a:r>
          </a:p>
          <a:p>
            <a:r>
              <a:rPr lang="de-DE" dirty="0"/>
              <a:t>Struktur: </a:t>
            </a:r>
            <a:r>
              <a:rPr lang="de-DE" dirty="0">
                <a:solidFill>
                  <a:srgbClr val="0070C0"/>
                </a:solidFill>
              </a:rPr>
              <a:t>Holding Struktur</a:t>
            </a:r>
          </a:p>
          <a:p>
            <a:r>
              <a:rPr lang="de-DE" dirty="0"/>
              <a:t>Man darf im In und Ausland operativ tätig sein</a:t>
            </a:r>
          </a:p>
          <a:p>
            <a:r>
              <a:rPr lang="de-DE" dirty="0"/>
              <a:t>Ausschlaggebend ist die </a:t>
            </a:r>
            <a:r>
              <a:rPr lang="de-DE" dirty="0">
                <a:solidFill>
                  <a:srgbClr val="0070C0"/>
                </a:solidFill>
              </a:rPr>
              <a:t>Lizenz</a:t>
            </a:r>
            <a:r>
              <a:rPr lang="de-DE" dirty="0"/>
              <a:t>beschreibung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70C0"/>
                </a:solidFill>
                <a:sym typeface="Wingdings" panose="05000000000000000000" pitchFamily="2" charset="2"/>
              </a:rPr>
              <a:t>Digital Plattform Services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>
                <a:solidFill>
                  <a:srgbClr val="0070C0"/>
                </a:solidFill>
                <a:sym typeface="Wingdings" panose="05000000000000000000" pitchFamily="2" charset="2"/>
              </a:rPr>
              <a:t>Software Publishing </a:t>
            </a:r>
          </a:p>
          <a:p>
            <a:r>
              <a:rPr lang="de-DE" dirty="0">
                <a:sym typeface="Wingdings" panose="05000000000000000000" pitchFamily="2" charset="2"/>
              </a:rPr>
              <a:t>Tochtergesellschaften in Äthiopien, Kenia, Tansania 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2785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B146C-C036-409B-39C2-3EB4EEE1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Free Zone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9B0853-6B22-2E5C-DA34-3B6F001AF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IFZA Zone</a:t>
            </a:r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BB6BF7BA-7A2B-F7D1-1EE8-C8EE26756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37327"/>
              </p:ext>
            </p:extLst>
          </p:nvPr>
        </p:nvGraphicFramePr>
        <p:xfrm>
          <a:off x="838200" y="2466473"/>
          <a:ext cx="10515600" cy="356134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798973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9926387"/>
                    </a:ext>
                  </a:extLst>
                </a:gridCol>
              </a:tblGrid>
              <a:tr h="593558">
                <a:tc>
                  <a:txBody>
                    <a:bodyPr/>
                    <a:lstStyle/>
                    <a:p>
                      <a:r>
                        <a:rPr lang="de-DE"/>
                        <a:t>Bereich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Eignung für dein Vorhaben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860012"/>
                  </a:ext>
                </a:extLst>
              </a:tr>
              <a:tr h="593558">
                <a:tc>
                  <a:txBody>
                    <a:bodyPr/>
                    <a:lstStyle/>
                    <a:p>
                      <a:r>
                        <a:rPr lang="de-DE" dirty="0"/>
                        <a:t>Digitale Plattformbetreiber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✅ Sehr gut geeignet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729469"/>
                  </a:ext>
                </a:extLst>
              </a:tr>
              <a:tr h="593558">
                <a:tc>
                  <a:txBody>
                    <a:bodyPr/>
                    <a:lstStyle/>
                    <a:p>
                      <a:r>
                        <a:rPr lang="de-DE" dirty="0"/>
                        <a:t> IP-Inhaberschaft (Marke, Code)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✅ Möglich und zulässig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498296"/>
                  </a:ext>
                </a:extLst>
              </a:tr>
              <a:tr h="593558">
                <a:tc>
                  <a:txBody>
                    <a:bodyPr/>
                    <a:lstStyle/>
                    <a:p>
                      <a:r>
                        <a:rPr lang="de-DE" dirty="0"/>
                        <a:t> Holdingstruktur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✅ IFZA erlaubt „Holding“ als Lizenzaktivität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43078"/>
                  </a:ext>
                </a:extLst>
              </a:tr>
              <a:tr h="593558">
                <a:tc>
                  <a:txBody>
                    <a:bodyPr/>
                    <a:lstStyle/>
                    <a:p>
                      <a:r>
                        <a:rPr lang="de-DE" dirty="0"/>
                        <a:t> Internationale Expansion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✅ Gute Reputation, ideal für Afrika-Fokus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649233"/>
                  </a:ext>
                </a:extLst>
              </a:tr>
              <a:tr h="593558">
                <a:tc>
                  <a:txBody>
                    <a:bodyPr/>
                    <a:lstStyle/>
                    <a:p>
                      <a:r>
                        <a:rPr lang="de-DE" dirty="0"/>
                        <a:t>Gewinnverwertung / Lizenzmodelle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✅ Über Management-/Tech-Fees möglich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27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90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1E441-7FD4-40B6-C553-CFEE88C2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856A5A-6AA9-7C52-8B1A-761FE6011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operative Gesellschaft mit echtem oder virtuellen Büro gründen</a:t>
            </a:r>
          </a:p>
          <a:p>
            <a:r>
              <a:rPr lang="de-DE" dirty="0"/>
              <a:t>Digitale Leistungen weltweit anbieten (IT- Lizensierung)</a:t>
            </a:r>
          </a:p>
          <a:p>
            <a:r>
              <a:rPr lang="de-DE" dirty="0"/>
              <a:t>Eigentümer der Marke, Software, Nutzerdaten</a:t>
            </a:r>
          </a:p>
          <a:p>
            <a:r>
              <a:rPr lang="de-DE" dirty="0"/>
              <a:t>Verträge mit Kenia, Tansania, Äthiopien schließen (z.B. als Holding/Servicegeber)</a:t>
            </a:r>
          </a:p>
          <a:p>
            <a:r>
              <a:rPr lang="de-DE" dirty="0"/>
              <a:t>Rechnungen an Tochterfirmen stellen (z.B. Lizenzgebühren), Holding wird in Dubai zu 0% besteuert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5876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864BF-F03C-B46A-86BC-F9B6DCB0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Kostenübersicht (Schätzung)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B58EC69-7D45-F050-0B64-8402D4460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806078"/>
              </p:ext>
            </p:extLst>
          </p:nvPr>
        </p:nvGraphicFramePr>
        <p:xfrm>
          <a:off x="838200" y="1949116"/>
          <a:ext cx="10515600" cy="29665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585092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1164610"/>
                    </a:ext>
                  </a:extLst>
                </a:gridCol>
              </a:tblGrid>
              <a:tr h="593316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Betrag (EUR/Jahr)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359022"/>
                  </a:ext>
                </a:extLst>
              </a:tr>
              <a:tr h="593316">
                <a:tc>
                  <a:txBody>
                    <a:bodyPr/>
                    <a:lstStyle/>
                    <a:p>
                      <a:r>
                        <a:rPr lang="de-DE" dirty="0"/>
                        <a:t>IFZA Lizenz (1 Aktivität)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ab 3.000 – 4.500 €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172730"/>
                  </a:ext>
                </a:extLst>
              </a:tr>
              <a:tr h="593316">
                <a:tc>
                  <a:txBody>
                    <a:bodyPr/>
                    <a:lstStyle/>
                    <a:p>
                      <a:r>
                        <a:rPr lang="de-DE"/>
                        <a:t>Virtuelles Büro (Pflicht)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meist inklusive im Paket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333120"/>
                  </a:ext>
                </a:extLst>
              </a:tr>
              <a:tr h="593316">
                <a:tc>
                  <a:txBody>
                    <a:bodyPr/>
                    <a:lstStyle/>
                    <a:p>
                      <a:r>
                        <a:rPr lang="de-DE"/>
                        <a:t>Gründung &amp; Beratung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800 – 1.500 € (Agentur)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28818"/>
                  </a:ext>
                </a:extLst>
              </a:tr>
              <a:tr h="593316">
                <a:tc>
                  <a:txBody>
                    <a:bodyPr/>
                    <a:lstStyle/>
                    <a:p>
                      <a:r>
                        <a:rPr lang="de-DE"/>
                        <a:t>Gesamtpaket (Basis)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4.000 – 6.000 € jährlich</a:t>
                      </a:r>
                      <a:endParaRPr lang="de-D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300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22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15DF3-BF2E-CFAA-F052-EDF1E458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Offshore Company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6D09D3-2E5F-CA5B-CCF2-782D93C1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RAK ICC</a:t>
            </a:r>
          </a:p>
          <a:p>
            <a:r>
              <a:rPr lang="de-DE" dirty="0"/>
              <a:t>Ebenfalls Holdingstruktur mit Tochtergesellschaften in den jeweiligen Ländern</a:t>
            </a:r>
          </a:p>
          <a:p>
            <a:r>
              <a:rPr lang="de-DE" dirty="0"/>
              <a:t>Man darf ebenfalls operativ tätig sein, </a:t>
            </a:r>
            <a:r>
              <a:rPr lang="de-DE" dirty="0">
                <a:solidFill>
                  <a:srgbClr val="FF0000"/>
                </a:solidFill>
              </a:rPr>
              <a:t>aber</a:t>
            </a:r>
            <a:r>
              <a:rPr lang="de-DE" dirty="0"/>
              <a:t> nur im Ausland</a:t>
            </a:r>
          </a:p>
          <a:p>
            <a:r>
              <a:rPr lang="de-DE" dirty="0"/>
              <a:t>Ausschlaggebend ist die beschriebene Aktivität im Gründungsdokument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Object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Clause</a:t>
            </a:r>
            <a:r>
              <a:rPr lang="de-DE" dirty="0">
                <a:sym typeface="Wingdings" panose="05000000000000000000" pitchFamily="2" charset="2"/>
              </a:rPr>
              <a:t> </a:t>
            </a:r>
          </a:p>
          <a:p>
            <a:r>
              <a:rPr lang="de-DE" dirty="0">
                <a:sym typeface="Wingdings" panose="05000000000000000000" pitchFamily="2" charset="2"/>
              </a:rPr>
              <a:t>Ausführliche Beschreibung um die Operative Tätigkeit im Ausland zu sichern</a:t>
            </a:r>
          </a:p>
          <a:p>
            <a:r>
              <a:rPr lang="de-DE" dirty="0" err="1">
                <a:sym typeface="Wingdings" panose="05000000000000000000" pitchFamily="2" charset="2"/>
              </a:rPr>
              <a:t>Bsp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en-US"/>
              <a:t>"To operate a digital platform for real estate listing, matching and data services; to develop, license and manage software and intellectual property related to real estate and property management solutions; to provide business consultancy, data analytics, and IT services internationally; to own shares in subsidiary companies and to collect revenues from licensing, consulting and data access services."</a:t>
            </a: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1032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C4885-822D-3CE2-5559-EACD3ED9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Vergleich 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1899550-2416-5544-69E6-7EF1B9CC8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574154"/>
              </p:ext>
            </p:extLst>
          </p:nvPr>
        </p:nvGraphicFramePr>
        <p:xfrm>
          <a:off x="312821" y="1888959"/>
          <a:ext cx="10972800" cy="3962301"/>
        </p:xfrm>
        <a:graphic>
          <a:graphicData uri="http://schemas.openxmlformats.org/drawingml/2006/table">
            <a:tbl>
              <a:tblPr firstRow="1" firstCol="1" bandRow="1"/>
              <a:tblGrid>
                <a:gridCol w="3962400">
                  <a:extLst>
                    <a:ext uri="{9D8B030D-6E8A-4147-A177-3AD203B41FA5}">
                      <a16:colId xmlns:a16="http://schemas.microsoft.com/office/drawing/2014/main" val="2303355556"/>
                    </a:ext>
                  </a:extLst>
                </a:gridCol>
                <a:gridCol w="3437021">
                  <a:extLst>
                    <a:ext uri="{9D8B030D-6E8A-4147-A177-3AD203B41FA5}">
                      <a16:colId xmlns:a16="http://schemas.microsoft.com/office/drawing/2014/main" val="596049673"/>
                    </a:ext>
                  </a:extLst>
                </a:gridCol>
                <a:gridCol w="3573379">
                  <a:extLst>
                    <a:ext uri="{9D8B030D-6E8A-4147-A177-3AD203B41FA5}">
                      <a16:colId xmlns:a16="http://schemas.microsoft.com/office/drawing/2014/main" val="496268262"/>
                    </a:ext>
                  </a:extLst>
                </a:gridCol>
              </a:tblGrid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Kriterium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Free Zone Entity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Offshore Company (RAK ICC)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257761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Geschäftstätigkeit in VAE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 Free Zone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2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verboten</a:t>
                      </a:r>
                      <a:endParaRPr lang="de-DE" sz="20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24720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Eigentum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100 % ausländisch erlaubt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100 % ausländisch erlaubt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432340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Bankkonto in VAE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einfach</a:t>
                      </a:r>
                      <a:endParaRPr lang="de-DE" sz="2000" kern="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2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schwierig</a:t>
                      </a: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aber machbar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235281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Büro erforderlich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(auch virtuell)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nicht erforderlich</a:t>
                      </a:r>
                      <a:endParaRPr lang="de-DE" sz="2000" kern="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966737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Gründungskosten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3.000 – 6.000 €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1.500 – 3.000 €</a:t>
                      </a:r>
                      <a:endParaRPr lang="de-DE" sz="2000" kern="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997164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Besteuerung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0–9 % (nur auf lokal erzielte Gewinne)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0 %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42580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Substanznachweis erforderlich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empfohlen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nicht notwendig</a:t>
                      </a:r>
                      <a:endParaRPr lang="de-DE" sz="2000" kern="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39325"/>
                  </a:ext>
                </a:extLst>
              </a:tr>
              <a:tr h="407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Ideal für</a:t>
                      </a:r>
                      <a:endParaRPr lang="de-D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operativ tätige Unternehmen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Holding, Beteiligungen, IP</a:t>
                      </a:r>
                      <a:endParaRPr lang="de-D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6843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89B8C16-8208-A6AF-3B3D-9B82DE975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4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1754</Words>
  <Application>Microsoft Office PowerPoint</Application>
  <PresentationFormat>Breitbild</PresentationFormat>
  <Paragraphs>274</Paragraphs>
  <Slides>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Wingdings</vt:lpstr>
      <vt:lpstr>Office</vt:lpstr>
      <vt:lpstr>Digitale Immobilienplattform</vt:lpstr>
      <vt:lpstr>   Problemdefinition</vt:lpstr>
      <vt:lpstr>   Nutzerversprechen</vt:lpstr>
      <vt:lpstr>   Zielgruppenanalyse</vt:lpstr>
      <vt:lpstr>   Zielgruppenanalyse</vt:lpstr>
      <vt:lpstr>   Zielgruppenanalyse</vt:lpstr>
      <vt:lpstr>   Zielgruppenanalyse</vt:lpstr>
      <vt:lpstr>    Ostafrika</vt:lpstr>
      <vt:lpstr>    Marktanalyse</vt:lpstr>
      <vt:lpstr>    Marktanalyse</vt:lpstr>
      <vt:lpstr>    Marktanalyse</vt:lpstr>
      <vt:lpstr>    Marktanalyse</vt:lpstr>
      <vt:lpstr>    Marktanalyse </vt:lpstr>
      <vt:lpstr>    Marktanalyse</vt:lpstr>
      <vt:lpstr>    Marktanalyse</vt:lpstr>
      <vt:lpstr>   Gesellschaftsform</vt:lpstr>
      <vt:lpstr>    Free Zone</vt:lpstr>
      <vt:lpstr>    Ablauf</vt:lpstr>
      <vt:lpstr>  Kostenübersicht (Schätzung)</vt:lpstr>
      <vt:lpstr>   Offshore Company</vt:lpstr>
      <vt:lpstr>    Vergleich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Nahom Mekbeb</dc:creator>
  <cp:lastModifiedBy>Nahom Mekbeb</cp:lastModifiedBy>
  <cp:revision>1</cp:revision>
  <dcterms:created xsi:type="dcterms:W3CDTF">2025-04-23T13:21:48Z</dcterms:created>
  <dcterms:modified xsi:type="dcterms:W3CDTF">2025-05-15T15:03:52Z</dcterms:modified>
</cp:coreProperties>
</file>