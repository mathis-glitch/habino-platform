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8FDB9-2090-46D7-922F-756E83899BA0}" v="9" dt="2025-04-24T13:52:11.3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9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om Mekbeb" userId="e293a0d2-298d-4f76-ac4e-c5d6523e5a1f" providerId="ADAL" clId="{029D830F-BDAC-4004-82FB-18D9D1B8748A}"/>
    <pc:docChg chg="modSld">
      <pc:chgData name="Nahom Mekbeb" userId="e293a0d2-298d-4f76-ac4e-c5d6523e5a1f" providerId="ADAL" clId="{029D830F-BDAC-4004-82FB-18D9D1B8748A}" dt="2025-04-25T12:54:07.565" v="0" actId="20577"/>
      <pc:docMkLst>
        <pc:docMk/>
      </pc:docMkLst>
      <pc:sldChg chg="modSp mod">
        <pc:chgData name="Nahom Mekbeb" userId="e293a0d2-298d-4f76-ac4e-c5d6523e5a1f" providerId="ADAL" clId="{029D830F-BDAC-4004-82FB-18D9D1B8748A}" dt="2025-04-25T12:54:07.565" v="0" actId="20577"/>
        <pc:sldMkLst>
          <pc:docMk/>
          <pc:sldMk cId="1144590135" sldId="259"/>
        </pc:sldMkLst>
        <pc:spChg chg="mod">
          <ac:chgData name="Nahom Mekbeb" userId="e293a0d2-298d-4f76-ac4e-c5d6523e5a1f" providerId="ADAL" clId="{029D830F-BDAC-4004-82FB-18D9D1B8748A}" dt="2025-04-25T12:54:07.565" v="0" actId="20577"/>
          <ac:spMkLst>
            <pc:docMk/>
            <pc:sldMk cId="1144590135" sldId="259"/>
            <ac:spMk id="3" creationId="{D0C95C9D-48D3-EFA7-33C4-1897EE4A1A14}"/>
          </ac:spMkLst>
        </pc:spChg>
      </pc:sldChg>
    </pc:docChg>
  </pc:docChgLst>
  <pc:docChgLst>
    <pc:chgData name="Nahom Mekbeb" userId="e293a0d2-298d-4f76-ac4e-c5d6523e5a1f" providerId="ADAL" clId="{A0D8FDB9-2090-46D7-922F-756E83899BA0}"/>
    <pc:docChg chg="custSel addSld delSld modSld">
      <pc:chgData name="Nahom Mekbeb" userId="e293a0d2-298d-4f76-ac4e-c5d6523e5a1f" providerId="ADAL" clId="{A0D8FDB9-2090-46D7-922F-756E83899BA0}" dt="2025-04-24T14:12:29.643" v="9133" actId="20577"/>
      <pc:docMkLst>
        <pc:docMk/>
      </pc:docMkLst>
      <pc:sldChg chg="modSp mod">
        <pc:chgData name="Nahom Mekbeb" userId="e293a0d2-298d-4f76-ac4e-c5d6523e5a1f" providerId="ADAL" clId="{A0D8FDB9-2090-46D7-922F-756E83899BA0}" dt="2025-04-24T14:12:18.652" v="9131" actId="20577"/>
        <pc:sldMkLst>
          <pc:docMk/>
          <pc:sldMk cId="3619449626" sldId="256"/>
        </pc:sldMkLst>
        <pc:spChg chg="mod">
          <ac:chgData name="Nahom Mekbeb" userId="e293a0d2-298d-4f76-ac4e-c5d6523e5a1f" providerId="ADAL" clId="{A0D8FDB9-2090-46D7-922F-756E83899BA0}" dt="2025-04-24T14:12:18.652" v="9131" actId="20577"/>
          <ac:spMkLst>
            <pc:docMk/>
            <pc:sldMk cId="3619449626" sldId="256"/>
            <ac:spMk id="2" creationId="{564F0578-56C6-B59F-1D03-3CF9C2B4F30E}"/>
          </ac:spMkLst>
        </pc:spChg>
        <pc:spChg chg="mod">
          <ac:chgData name="Nahom Mekbeb" userId="e293a0d2-298d-4f76-ac4e-c5d6523e5a1f" providerId="ADAL" clId="{A0D8FDB9-2090-46D7-922F-756E83899BA0}" dt="2025-04-24T09:26:29.698" v="104" actId="20577"/>
          <ac:spMkLst>
            <pc:docMk/>
            <pc:sldMk cId="3619449626" sldId="256"/>
            <ac:spMk id="3" creationId="{B193D9C8-72F1-700B-5721-4FF71F62D963}"/>
          </ac:spMkLst>
        </pc:spChg>
      </pc:sldChg>
      <pc:sldChg chg="modSp new mod">
        <pc:chgData name="Nahom Mekbeb" userId="e293a0d2-298d-4f76-ac4e-c5d6523e5a1f" providerId="ADAL" clId="{A0D8FDB9-2090-46D7-922F-756E83899BA0}" dt="2025-04-24T10:12:06.510" v="1398" actId="20577"/>
        <pc:sldMkLst>
          <pc:docMk/>
          <pc:sldMk cId="4077528221" sldId="257"/>
        </pc:sldMkLst>
        <pc:spChg chg="mod">
          <ac:chgData name="Nahom Mekbeb" userId="e293a0d2-298d-4f76-ac4e-c5d6523e5a1f" providerId="ADAL" clId="{A0D8FDB9-2090-46D7-922F-756E83899BA0}" dt="2025-04-24T09:50:37.360" v="129" actId="20577"/>
          <ac:spMkLst>
            <pc:docMk/>
            <pc:sldMk cId="4077528221" sldId="257"/>
            <ac:spMk id="2" creationId="{DD92AEC8-DC23-60A7-1DE6-218144D56BF1}"/>
          </ac:spMkLst>
        </pc:spChg>
        <pc:spChg chg="mod">
          <ac:chgData name="Nahom Mekbeb" userId="e293a0d2-298d-4f76-ac4e-c5d6523e5a1f" providerId="ADAL" clId="{A0D8FDB9-2090-46D7-922F-756E83899BA0}" dt="2025-04-24T10:12:06.510" v="1398" actId="20577"/>
          <ac:spMkLst>
            <pc:docMk/>
            <pc:sldMk cId="4077528221" sldId="257"/>
            <ac:spMk id="3" creationId="{A8BFF384-B376-7925-6EFA-9ED55A6D2366}"/>
          </ac:spMkLst>
        </pc:spChg>
      </pc:sldChg>
      <pc:sldChg chg="modSp new mod">
        <pc:chgData name="Nahom Mekbeb" userId="e293a0d2-298d-4f76-ac4e-c5d6523e5a1f" providerId="ADAL" clId="{A0D8FDB9-2090-46D7-922F-756E83899BA0}" dt="2025-04-24T10:19:38.255" v="1899" actId="20577"/>
        <pc:sldMkLst>
          <pc:docMk/>
          <pc:sldMk cId="4191903342" sldId="258"/>
        </pc:sldMkLst>
        <pc:spChg chg="mod">
          <ac:chgData name="Nahom Mekbeb" userId="e293a0d2-298d-4f76-ac4e-c5d6523e5a1f" providerId="ADAL" clId="{A0D8FDB9-2090-46D7-922F-756E83899BA0}" dt="2025-04-24T10:13:28.118" v="1421" actId="20577"/>
          <ac:spMkLst>
            <pc:docMk/>
            <pc:sldMk cId="4191903342" sldId="258"/>
            <ac:spMk id="2" creationId="{3DFC5D76-049C-40F4-C5A9-892829083CFD}"/>
          </ac:spMkLst>
        </pc:spChg>
        <pc:spChg chg="mod">
          <ac:chgData name="Nahom Mekbeb" userId="e293a0d2-298d-4f76-ac4e-c5d6523e5a1f" providerId="ADAL" clId="{A0D8FDB9-2090-46D7-922F-756E83899BA0}" dt="2025-04-24T10:19:38.255" v="1899" actId="20577"/>
          <ac:spMkLst>
            <pc:docMk/>
            <pc:sldMk cId="4191903342" sldId="258"/>
            <ac:spMk id="3" creationId="{5AC5CAD2-0749-A996-1C86-B74231BB6BE2}"/>
          </ac:spMkLst>
        </pc:spChg>
      </pc:sldChg>
      <pc:sldChg chg="modSp new mod">
        <pc:chgData name="Nahom Mekbeb" userId="e293a0d2-298d-4f76-ac4e-c5d6523e5a1f" providerId="ADAL" clId="{A0D8FDB9-2090-46D7-922F-756E83899BA0}" dt="2025-04-24T14:12:29.643" v="9133" actId="20577"/>
        <pc:sldMkLst>
          <pc:docMk/>
          <pc:sldMk cId="1144590135" sldId="259"/>
        </pc:sldMkLst>
        <pc:spChg chg="mod">
          <ac:chgData name="Nahom Mekbeb" userId="e293a0d2-298d-4f76-ac4e-c5d6523e5a1f" providerId="ADAL" clId="{A0D8FDB9-2090-46D7-922F-756E83899BA0}" dt="2025-04-24T10:20:15.639" v="1920" actId="20577"/>
          <ac:spMkLst>
            <pc:docMk/>
            <pc:sldMk cId="1144590135" sldId="259"/>
            <ac:spMk id="2" creationId="{F0917FBF-7801-413A-EA12-482D4CF1E96B}"/>
          </ac:spMkLst>
        </pc:spChg>
        <pc:spChg chg="mod">
          <ac:chgData name="Nahom Mekbeb" userId="e293a0d2-298d-4f76-ac4e-c5d6523e5a1f" providerId="ADAL" clId="{A0D8FDB9-2090-46D7-922F-756E83899BA0}" dt="2025-04-24T14:12:29.643" v="9133" actId="20577"/>
          <ac:spMkLst>
            <pc:docMk/>
            <pc:sldMk cId="1144590135" sldId="259"/>
            <ac:spMk id="3" creationId="{D0C95C9D-48D3-EFA7-33C4-1897EE4A1A14}"/>
          </ac:spMkLst>
        </pc:spChg>
      </pc:sldChg>
      <pc:sldChg chg="modSp new mod">
        <pc:chgData name="Nahom Mekbeb" userId="e293a0d2-298d-4f76-ac4e-c5d6523e5a1f" providerId="ADAL" clId="{A0D8FDB9-2090-46D7-922F-756E83899BA0}" dt="2025-04-24T10:34:22.645" v="2882" actId="113"/>
        <pc:sldMkLst>
          <pc:docMk/>
          <pc:sldMk cId="1948144554" sldId="260"/>
        </pc:sldMkLst>
        <pc:spChg chg="mod">
          <ac:chgData name="Nahom Mekbeb" userId="e293a0d2-298d-4f76-ac4e-c5d6523e5a1f" providerId="ADAL" clId="{A0D8FDB9-2090-46D7-922F-756E83899BA0}" dt="2025-04-24T10:25:13.316" v="2367" actId="20577"/>
          <ac:spMkLst>
            <pc:docMk/>
            <pc:sldMk cId="1948144554" sldId="260"/>
            <ac:spMk id="2" creationId="{10AB99A2-CDAD-116A-B74B-C8E6B48FC7A6}"/>
          </ac:spMkLst>
        </pc:spChg>
        <pc:spChg chg="mod">
          <ac:chgData name="Nahom Mekbeb" userId="e293a0d2-298d-4f76-ac4e-c5d6523e5a1f" providerId="ADAL" clId="{A0D8FDB9-2090-46D7-922F-756E83899BA0}" dt="2025-04-24T10:34:22.645" v="2882" actId="113"/>
          <ac:spMkLst>
            <pc:docMk/>
            <pc:sldMk cId="1948144554" sldId="260"/>
            <ac:spMk id="3" creationId="{90E1924F-5735-3F86-8F10-EA95FABD89F1}"/>
          </ac:spMkLst>
        </pc:spChg>
      </pc:sldChg>
      <pc:sldChg chg="modSp new mod">
        <pc:chgData name="Nahom Mekbeb" userId="e293a0d2-298d-4f76-ac4e-c5d6523e5a1f" providerId="ADAL" clId="{A0D8FDB9-2090-46D7-922F-756E83899BA0}" dt="2025-04-24T11:20:35.025" v="5482" actId="27636"/>
        <pc:sldMkLst>
          <pc:docMk/>
          <pc:sldMk cId="2386253523" sldId="261"/>
        </pc:sldMkLst>
        <pc:spChg chg="mod">
          <ac:chgData name="Nahom Mekbeb" userId="e293a0d2-298d-4f76-ac4e-c5d6523e5a1f" providerId="ADAL" clId="{A0D8FDB9-2090-46D7-922F-756E83899BA0}" dt="2025-04-24T10:38:32.253" v="2914" actId="20577"/>
          <ac:spMkLst>
            <pc:docMk/>
            <pc:sldMk cId="2386253523" sldId="261"/>
            <ac:spMk id="2" creationId="{6C25A244-1446-D7BB-CB29-954A01309FBD}"/>
          </ac:spMkLst>
        </pc:spChg>
        <pc:spChg chg="mod">
          <ac:chgData name="Nahom Mekbeb" userId="e293a0d2-298d-4f76-ac4e-c5d6523e5a1f" providerId="ADAL" clId="{A0D8FDB9-2090-46D7-922F-756E83899BA0}" dt="2025-04-24T11:20:35.025" v="5482" actId="27636"/>
          <ac:spMkLst>
            <pc:docMk/>
            <pc:sldMk cId="2386253523" sldId="261"/>
            <ac:spMk id="3" creationId="{2CE7A07F-D0B4-2912-4029-A56084E64A98}"/>
          </ac:spMkLst>
        </pc:spChg>
      </pc:sldChg>
      <pc:sldChg chg="modSp new mod">
        <pc:chgData name="Nahom Mekbeb" userId="e293a0d2-298d-4f76-ac4e-c5d6523e5a1f" providerId="ADAL" clId="{A0D8FDB9-2090-46D7-922F-756E83899BA0}" dt="2025-04-24T11:04:48.285" v="4770" actId="20577"/>
        <pc:sldMkLst>
          <pc:docMk/>
          <pc:sldMk cId="3987285889" sldId="262"/>
        </pc:sldMkLst>
        <pc:spChg chg="mod">
          <ac:chgData name="Nahom Mekbeb" userId="e293a0d2-298d-4f76-ac4e-c5d6523e5a1f" providerId="ADAL" clId="{A0D8FDB9-2090-46D7-922F-756E83899BA0}" dt="2025-04-24T10:55:16.336" v="4055" actId="20577"/>
          <ac:spMkLst>
            <pc:docMk/>
            <pc:sldMk cId="3987285889" sldId="262"/>
            <ac:spMk id="2" creationId="{3779B16A-F14E-4E6B-2F65-74701E94BCFA}"/>
          </ac:spMkLst>
        </pc:spChg>
        <pc:spChg chg="mod">
          <ac:chgData name="Nahom Mekbeb" userId="e293a0d2-298d-4f76-ac4e-c5d6523e5a1f" providerId="ADAL" clId="{A0D8FDB9-2090-46D7-922F-756E83899BA0}" dt="2025-04-24T11:04:48.285" v="4770" actId="20577"/>
          <ac:spMkLst>
            <pc:docMk/>
            <pc:sldMk cId="3987285889" sldId="262"/>
            <ac:spMk id="3" creationId="{9891F672-8505-8190-36F4-B50E55C00F09}"/>
          </ac:spMkLst>
        </pc:spChg>
      </pc:sldChg>
      <pc:sldChg chg="modSp new mod">
        <pc:chgData name="Nahom Mekbeb" userId="e293a0d2-298d-4f76-ac4e-c5d6523e5a1f" providerId="ADAL" clId="{A0D8FDB9-2090-46D7-922F-756E83899BA0}" dt="2025-04-24T11:41:27.592" v="6935" actId="20577"/>
        <pc:sldMkLst>
          <pc:docMk/>
          <pc:sldMk cId="3655164649" sldId="263"/>
        </pc:sldMkLst>
        <pc:spChg chg="mod">
          <ac:chgData name="Nahom Mekbeb" userId="e293a0d2-298d-4f76-ac4e-c5d6523e5a1f" providerId="ADAL" clId="{A0D8FDB9-2090-46D7-922F-756E83899BA0}" dt="2025-04-24T11:41:27.592" v="6935" actId="20577"/>
          <ac:spMkLst>
            <pc:docMk/>
            <pc:sldMk cId="3655164649" sldId="263"/>
            <ac:spMk id="2" creationId="{E65A7742-2927-F033-6923-19FAEB9E1562}"/>
          </ac:spMkLst>
        </pc:spChg>
        <pc:spChg chg="mod">
          <ac:chgData name="Nahom Mekbeb" userId="e293a0d2-298d-4f76-ac4e-c5d6523e5a1f" providerId="ADAL" clId="{A0D8FDB9-2090-46D7-922F-756E83899BA0}" dt="2025-04-24T11:27:12.430" v="6149" actId="20577"/>
          <ac:spMkLst>
            <pc:docMk/>
            <pc:sldMk cId="3655164649" sldId="263"/>
            <ac:spMk id="3" creationId="{F21A7C4C-D56A-AC16-FFFF-CD5950802165}"/>
          </ac:spMkLst>
        </pc:spChg>
      </pc:sldChg>
      <pc:sldChg chg="modSp new mod">
        <pc:chgData name="Nahom Mekbeb" userId="e293a0d2-298d-4f76-ac4e-c5d6523e5a1f" providerId="ADAL" clId="{A0D8FDB9-2090-46D7-922F-756E83899BA0}" dt="2025-04-24T11:37:00.593" v="6911" actId="207"/>
        <pc:sldMkLst>
          <pc:docMk/>
          <pc:sldMk cId="437522638" sldId="264"/>
        </pc:sldMkLst>
        <pc:spChg chg="mod">
          <ac:chgData name="Nahom Mekbeb" userId="e293a0d2-298d-4f76-ac4e-c5d6523e5a1f" providerId="ADAL" clId="{A0D8FDB9-2090-46D7-922F-756E83899BA0}" dt="2025-04-24T11:28:42.832" v="6171" actId="20577"/>
          <ac:spMkLst>
            <pc:docMk/>
            <pc:sldMk cId="437522638" sldId="264"/>
            <ac:spMk id="2" creationId="{8E7A9AA4-67A1-B6FE-2ADF-AD16EFF60449}"/>
          </ac:spMkLst>
        </pc:spChg>
        <pc:spChg chg="mod">
          <ac:chgData name="Nahom Mekbeb" userId="e293a0d2-298d-4f76-ac4e-c5d6523e5a1f" providerId="ADAL" clId="{A0D8FDB9-2090-46D7-922F-756E83899BA0}" dt="2025-04-24T11:37:00.593" v="6911" actId="207"/>
          <ac:spMkLst>
            <pc:docMk/>
            <pc:sldMk cId="437522638" sldId="264"/>
            <ac:spMk id="3" creationId="{11520B41-036E-7D22-15A5-613F8AA45847}"/>
          </ac:spMkLst>
        </pc:spChg>
      </pc:sldChg>
      <pc:sldChg chg="modSp new mod">
        <pc:chgData name="Nahom Mekbeb" userId="e293a0d2-298d-4f76-ac4e-c5d6523e5a1f" providerId="ADAL" clId="{A0D8FDB9-2090-46D7-922F-756E83899BA0}" dt="2025-04-24T11:59:42.355" v="7866" actId="5793"/>
        <pc:sldMkLst>
          <pc:docMk/>
          <pc:sldMk cId="3035400246" sldId="265"/>
        </pc:sldMkLst>
        <pc:spChg chg="mod">
          <ac:chgData name="Nahom Mekbeb" userId="e293a0d2-298d-4f76-ac4e-c5d6523e5a1f" providerId="ADAL" clId="{A0D8FDB9-2090-46D7-922F-756E83899BA0}" dt="2025-04-24T11:42:41.461" v="6953" actId="20577"/>
          <ac:spMkLst>
            <pc:docMk/>
            <pc:sldMk cId="3035400246" sldId="265"/>
            <ac:spMk id="2" creationId="{F3A829EC-6261-FDC5-9BF0-67F0A922DA5E}"/>
          </ac:spMkLst>
        </pc:spChg>
        <pc:spChg chg="mod">
          <ac:chgData name="Nahom Mekbeb" userId="e293a0d2-298d-4f76-ac4e-c5d6523e5a1f" providerId="ADAL" clId="{A0D8FDB9-2090-46D7-922F-756E83899BA0}" dt="2025-04-24T11:59:42.355" v="7866" actId="5793"/>
          <ac:spMkLst>
            <pc:docMk/>
            <pc:sldMk cId="3035400246" sldId="265"/>
            <ac:spMk id="3" creationId="{81B2D355-79E6-33F9-777F-81D0C86A00B3}"/>
          </ac:spMkLst>
        </pc:spChg>
      </pc:sldChg>
      <pc:sldChg chg="addSp delSp modSp new mod">
        <pc:chgData name="Nahom Mekbeb" userId="e293a0d2-298d-4f76-ac4e-c5d6523e5a1f" providerId="ADAL" clId="{A0D8FDB9-2090-46D7-922F-756E83899BA0}" dt="2025-04-24T13:24:41.836" v="7938" actId="14100"/>
        <pc:sldMkLst>
          <pc:docMk/>
          <pc:sldMk cId="2464849234" sldId="266"/>
        </pc:sldMkLst>
        <pc:spChg chg="mod">
          <ac:chgData name="Nahom Mekbeb" userId="e293a0d2-298d-4f76-ac4e-c5d6523e5a1f" providerId="ADAL" clId="{A0D8FDB9-2090-46D7-922F-756E83899BA0}" dt="2025-04-24T12:00:33.226" v="7893" actId="20577"/>
          <ac:spMkLst>
            <pc:docMk/>
            <pc:sldMk cId="2464849234" sldId="266"/>
            <ac:spMk id="2" creationId="{5FCF3A05-4009-EA27-75F1-988B32C940D2}"/>
          </ac:spMkLst>
        </pc:spChg>
        <pc:spChg chg="del mod">
          <ac:chgData name="Nahom Mekbeb" userId="e293a0d2-298d-4f76-ac4e-c5d6523e5a1f" providerId="ADAL" clId="{A0D8FDB9-2090-46D7-922F-756E83899BA0}" dt="2025-04-24T11:56:40.238" v="7842"/>
          <ac:spMkLst>
            <pc:docMk/>
            <pc:sldMk cId="2464849234" sldId="266"/>
            <ac:spMk id="3" creationId="{B3F37AC2-55C1-1D5A-7085-7BDCBBF6C19C}"/>
          </ac:spMkLst>
        </pc:spChg>
        <pc:spChg chg="add mod">
          <ac:chgData name="Nahom Mekbeb" userId="e293a0d2-298d-4f76-ac4e-c5d6523e5a1f" providerId="ADAL" clId="{A0D8FDB9-2090-46D7-922F-756E83899BA0}" dt="2025-04-24T13:24:26.977" v="7935" actId="20577"/>
          <ac:spMkLst>
            <pc:docMk/>
            <pc:sldMk cId="2464849234" sldId="266"/>
            <ac:spMk id="7" creationId="{1EB7C3AF-DEA1-6E34-5CBD-99225C028FA7}"/>
          </ac:spMkLst>
        </pc:spChg>
        <pc:graphicFrameChg chg="add del mod modGraphic">
          <ac:chgData name="Nahom Mekbeb" userId="e293a0d2-298d-4f76-ac4e-c5d6523e5a1f" providerId="ADAL" clId="{A0D8FDB9-2090-46D7-922F-756E83899BA0}" dt="2025-04-24T13:23:35.503" v="7895" actId="478"/>
          <ac:graphicFrameMkLst>
            <pc:docMk/>
            <pc:sldMk cId="2464849234" sldId="266"/>
            <ac:graphicFrameMk id="4" creationId="{F341129E-2F56-FCDE-BBFB-296020FA4367}"/>
          </ac:graphicFrameMkLst>
        </pc:graphicFrameChg>
        <pc:graphicFrameChg chg="add del mod">
          <ac:chgData name="Nahom Mekbeb" userId="e293a0d2-298d-4f76-ac4e-c5d6523e5a1f" providerId="ADAL" clId="{A0D8FDB9-2090-46D7-922F-756E83899BA0}" dt="2025-04-24T11:57:00.712" v="7845" actId="478"/>
          <ac:graphicFrameMkLst>
            <pc:docMk/>
            <pc:sldMk cId="2464849234" sldId="266"/>
            <ac:graphicFrameMk id="5" creationId="{B3EE37CC-B121-674A-0284-724CA2AC7833}"/>
          </ac:graphicFrameMkLst>
        </pc:graphicFrameChg>
        <pc:graphicFrameChg chg="add mod modGraphic">
          <ac:chgData name="Nahom Mekbeb" userId="e293a0d2-298d-4f76-ac4e-c5d6523e5a1f" providerId="ADAL" clId="{A0D8FDB9-2090-46D7-922F-756E83899BA0}" dt="2025-04-24T13:24:41.836" v="7938" actId="14100"/>
          <ac:graphicFrameMkLst>
            <pc:docMk/>
            <pc:sldMk cId="2464849234" sldId="266"/>
            <ac:graphicFrameMk id="8" creationId="{C27360B3-8D53-EBF4-40E3-CCD8C8F8A30E}"/>
          </ac:graphicFrameMkLst>
        </pc:graphicFrameChg>
      </pc:sldChg>
      <pc:sldChg chg="addSp modSp new del mod">
        <pc:chgData name="Nahom Mekbeb" userId="e293a0d2-298d-4f76-ac4e-c5d6523e5a1f" providerId="ADAL" clId="{A0D8FDB9-2090-46D7-922F-756E83899BA0}" dt="2025-04-24T13:39:43.245" v="8071" actId="2696"/>
        <pc:sldMkLst>
          <pc:docMk/>
          <pc:sldMk cId="1067925256" sldId="267"/>
        </pc:sldMkLst>
        <pc:spChg chg="mod">
          <ac:chgData name="Nahom Mekbeb" userId="e293a0d2-298d-4f76-ac4e-c5d6523e5a1f" providerId="ADAL" clId="{A0D8FDB9-2090-46D7-922F-756E83899BA0}" dt="2025-04-24T13:25:02.443" v="7954" actId="20577"/>
          <ac:spMkLst>
            <pc:docMk/>
            <pc:sldMk cId="1067925256" sldId="267"/>
            <ac:spMk id="2" creationId="{5FCD0118-BC89-08ED-A4A5-9E1E46A1A9C8}"/>
          </ac:spMkLst>
        </pc:spChg>
        <pc:spChg chg="mod">
          <ac:chgData name="Nahom Mekbeb" userId="e293a0d2-298d-4f76-ac4e-c5d6523e5a1f" providerId="ADAL" clId="{A0D8FDB9-2090-46D7-922F-756E83899BA0}" dt="2025-04-24T13:26:20.465" v="8010" actId="20577"/>
          <ac:spMkLst>
            <pc:docMk/>
            <pc:sldMk cId="1067925256" sldId="267"/>
            <ac:spMk id="3" creationId="{C793E0F1-4A81-CC9B-2F1A-76064B2C7F7B}"/>
          </ac:spMkLst>
        </pc:spChg>
        <pc:graphicFrameChg chg="add mod modGraphic">
          <ac:chgData name="Nahom Mekbeb" userId="e293a0d2-298d-4f76-ac4e-c5d6523e5a1f" providerId="ADAL" clId="{A0D8FDB9-2090-46D7-922F-756E83899BA0}" dt="2025-04-24T13:29:18.953" v="8070" actId="14100"/>
          <ac:graphicFrameMkLst>
            <pc:docMk/>
            <pc:sldMk cId="1067925256" sldId="267"/>
            <ac:graphicFrameMk id="4" creationId="{D10837FF-224B-2400-C4F2-60B270815ACE}"/>
          </ac:graphicFrameMkLst>
        </pc:graphicFrameChg>
      </pc:sldChg>
      <pc:sldChg chg="addSp modSp new mod">
        <pc:chgData name="Nahom Mekbeb" userId="e293a0d2-298d-4f76-ac4e-c5d6523e5a1f" providerId="ADAL" clId="{A0D8FDB9-2090-46D7-922F-756E83899BA0}" dt="2025-04-24T13:39:59.033" v="8073" actId="20577"/>
        <pc:sldMkLst>
          <pc:docMk/>
          <pc:sldMk cId="4143883831" sldId="268"/>
        </pc:sldMkLst>
        <pc:spChg chg="mod">
          <ac:chgData name="Nahom Mekbeb" userId="e293a0d2-298d-4f76-ac4e-c5d6523e5a1f" providerId="ADAL" clId="{A0D8FDB9-2090-46D7-922F-756E83899BA0}" dt="2025-04-24T13:27:24.636" v="8028" actId="20577"/>
          <ac:spMkLst>
            <pc:docMk/>
            <pc:sldMk cId="4143883831" sldId="268"/>
            <ac:spMk id="2" creationId="{86E88AE8-0FD9-74F9-EF90-CEF041816474}"/>
          </ac:spMkLst>
        </pc:spChg>
        <pc:spChg chg="mod">
          <ac:chgData name="Nahom Mekbeb" userId="e293a0d2-298d-4f76-ac4e-c5d6523e5a1f" providerId="ADAL" clId="{A0D8FDB9-2090-46D7-922F-756E83899BA0}" dt="2025-04-24T13:39:59.033" v="8073" actId="20577"/>
          <ac:spMkLst>
            <pc:docMk/>
            <pc:sldMk cId="4143883831" sldId="268"/>
            <ac:spMk id="3" creationId="{82885982-71F5-965E-BCB4-1431379EC0CE}"/>
          </ac:spMkLst>
        </pc:spChg>
        <pc:graphicFrameChg chg="add mod modGraphic">
          <ac:chgData name="Nahom Mekbeb" userId="e293a0d2-298d-4f76-ac4e-c5d6523e5a1f" providerId="ADAL" clId="{A0D8FDB9-2090-46D7-922F-756E83899BA0}" dt="2025-04-24T13:28:18.423" v="8067" actId="14100"/>
          <ac:graphicFrameMkLst>
            <pc:docMk/>
            <pc:sldMk cId="4143883831" sldId="268"/>
            <ac:graphicFrameMk id="4" creationId="{C6FEA135-0B85-BA65-0D3D-F61935D6A350}"/>
          </ac:graphicFrameMkLst>
        </pc:graphicFrameChg>
      </pc:sldChg>
      <pc:sldChg chg="modSp new mod">
        <pc:chgData name="Nahom Mekbeb" userId="e293a0d2-298d-4f76-ac4e-c5d6523e5a1f" providerId="ADAL" clId="{A0D8FDB9-2090-46D7-922F-756E83899BA0}" dt="2025-04-24T13:49:03.658" v="8580" actId="255"/>
        <pc:sldMkLst>
          <pc:docMk/>
          <pc:sldMk cId="37046107" sldId="269"/>
        </pc:sldMkLst>
        <pc:spChg chg="mod">
          <ac:chgData name="Nahom Mekbeb" userId="e293a0d2-298d-4f76-ac4e-c5d6523e5a1f" providerId="ADAL" clId="{A0D8FDB9-2090-46D7-922F-756E83899BA0}" dt="2025-04-24T13:40:50.483" v="8089" actId="20577"/>
          <ac:spMkLst>
            <pc:docMk/>
            <pc:sldMk cId="37046107" sldId="269"/>
            <ac:spMk id="2" creationId="{21F4090F-98C3-57FB-E824-ABA6D0F80B75}"/>
          </ac:spMkLst>
        </pc:spChg>
        <pc:spChg chg="mod">
          <ac:chgData name="Nahom Mekbeb" userId="e293a0d2-298d-4f76-ac4e-c5d6523e5a1f" providerId="ADAL" clId="{A0D8FDB9-2090-46D7-922F-756E83899BA0}" dt="2025-04-24T13:49:03.658" v="8580" actId="255"/>
          <ac:spMkLst>
            <pc:docMk/>
            <pc:sldMk cId="37046107" sldId="269"/>
            <ac:spMk id="3" creationId="{ED1774C5-F40C-6FF8-6CE8-D377C0F7BDD9}"/>
          </ac:spMkLst>
        </pc:spChg>
      </pc:sldChg>
      <pc:sldChg chg="addSp modSp new mod">
        <pc:chgData name="Nahom Mekbeb" userId="e293a0d2-298d-4f76-ac4e-c5d6523e5a1f" providerId="ADAL" clId="{A0D8FDB9-2090-46D7-922F-756E83899BA0}" dt="2025-04-24T13:52:13.938" v="8629" actId="14100"/>
        <pc:sldMkLst>
          <pc:docMk/>
          <pc:sldMk cId="2290419685" sldId="270"/>
        </pc:sldMkLst>
        <pc:spChg chg="mod">
          <ac:chgData name="Nahom Mekbeb" userId="e293a0d2-298d-4f76-ac4e-c5d6523e5a1f" providerId="ADAL" clId="{A0D8FDB9-2090-46D7-922F-756E83899BA0}" dt="2025-04-24T13:51:11.425" v="8599" actId="20577"/>
          <ac:spMkLst>
            <pc:docMk/>
            <pc:sldMk cId="2290419685" sldId="270"/>
            <ac:spMk id="2" creationId="{09F23521-D628-98F4-F5AD-2962039B1602}"/>
          </ac:spMkLst>
        </pc:spChg>
        <pc:spChg chg="mod">
          <ac:chgData name="Nahom Mekbeb" userId="e293a0d2-298d-4f76-ac4e-c5d6523e5a1f" providerId="ADAL" clId="{A0D8FDB9-2090-46D7-922F-756E83899BA0}" dt="2025-04-24T13:52:00.920" v="8627" actId="20577"/>
          <ac:spMkLst>
            <pc:docMk/>
            <pc:sldMk cId="2290419685" sldId="270"/>
            <ac:spMk id="3" creationId="{6655788C-1A2E-05C1-3CEA-C508401F2F1D}"/>
          </ac:spMkLst>
        </pc:spChg>
        <pc:graphicFrameChg chg="add mod modGraphic">
          <ac:chgData name="Nahom Mekbeb" userId="e293a0d2-298d-4f76-ac4e-c5d6523e5a1f" providerId="ADAL" clId="{A0D8FDB9-2090-46D7-922F-756E83899BA0}" dt="2025-04-24T13:52:13.938" v="8629" actId="14100"/>
          <ac:graphicFrameMkLst>
            <pc:docMk/>
            <pc:sldMk cId="2290419685" sldId="270"/>
            <ac:graphicFrameMk id="4" creationId="{FBEAA156-65AD-5353-BC2F-B22D6D98C7B8}"/>
          </ac:graphicFrameMkLst>
        </pc:graphicFrameChg>
      </pc:sldChg>
      <pc:sldChg chg="modSp new mod">
        <pc:chgData name="Nahom Mekbeb" userId="e293a0d2-298d-4f76-ac4e-c5d6523e5a1f" providerId="ADAL" clId="{A0D8FDB9-2090-46D7-922F-756E83899BA0}" dt="2025-04-24T14:01:39.619" v="9117" actId="207"/>
        <pc:sldMkLst>
          <pc:docMk/>
          <pc:sldMk cId="2979519735" sldId="271"/>
        </pc:sldMkLst>
        <pc:spChg chg="mod">
          <ac:chgData name="Nahom Mekbeb" userId="e293a0d2-298d-4f76-ac4e-c5d6523e5a1f" providerId="ADAL" clId="{A0D8FDB9-2090-46D7-922F-756E83899BA0}" dt="2025-04-24T13:52:31.620" v="8655" actId="20577"/>
          <ac:spMkLst>
            <pc:docMk/>
            <pc:sldMk cId="2979519735" sldId="271"/>
            <ac:spMk id="2" creationId="{B9A72B5E-7236-37B1-3A5A-13C2E71990CC}"/>
          </ac:spMkLst>
        </pc:spChg>
        <pc:spChg chg="mod">
          <ac:chgData name="Nahom Mekbeb" userId="e293a0d2-298d-4f76-ac4e-c5d6523e5a1f" providerId="ADAL" clId="{A0D8FDB9-2090-46D7-922F-756E83899BA0}" dt="2025-04-24T14:01:39.619" v="9117" actId="207"/>
          <ac:spMkLst>
            <pc:docMk/>
            <pc:sldMk cId="2979519735" sldId="271"/>
            <ac:spMk id="3" creationId="{DDEF1B2B-A748-9405-A119-3E9FEB48C7A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445769-4E8A-5D8C-4ECE-B680158EC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458EA9-C8E2-AA8D-34CA-91986E221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7F5DA-DEF3-EBEE-9216-C82307B9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A90440-04CE-7BB3-991C-8F3C58E76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4B10AA-A7F4-7BB6-41B6-19F8DAC7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26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021F5A-F84E-3F47-11B9-70241571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F7BAE2-9EFF-D981-3EA0-590EE07D0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BD5E44-6E11-F024-F40E-0113FB02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BE0D0A-F6D1-189D-A930-C04609A2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CCD2CC-DE2F-6281-3AE6-1CE8DF21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019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91372-E737-AB80-F5AE-25A4DD69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10EBBA-22B6-D2EA-3F4A-59ADF309A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DF2428-A02A-2AF8-2AD1-AE62FC0C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F17CFC-4146-8504-3B5C-4AB1132AD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646FF8-50CF-3B6D-0060-65211996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15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122E6-D921-140E-5EBB-0D9FD48FE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F8D38F-6E02-659E-6A11-1BFA8925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A6905A-4231-DB96-6D63-DBDF55AC5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031D8E-5FBC-72DA-2F71-63146E72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FE1616-3932-3A35-DF19-5B3125AF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44CC53-A86D-4D5D-CB34-0D8752AC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43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C68B8-9B67-6074-4085-3036DD17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590876-8B0A-A98C-C831-73B5BDFA6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ABCC81-3143-E7C6-1F6A-843322B9B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953F063-1410-E550-62C9-E7A972A31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06017BE-E25B-A9E3-18B9-0F3E96C2A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6284C35-870E-F88F-2607-506F5775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F7679B-44E4-F113-7C23-494950CB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3F3BBD0-0CF2-8162-C5BF-F3B3EBF8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750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94234-3351-B55B-9DCB-7F8C18A1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FEB613-1393-DE09-A56E-97F0DE52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EFFB89-0203-BFA2-69ED-985533BE6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B9BA32-B68F-FB40-0F83-98C1F75D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943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CC4587-0589-D642-03EA-B92480FA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0F5F9A0-A166-4A37-D4EE-162CE1E4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4772F4-5F59-0CBC-D387-0B6482D4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289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8F41B-5E91-BC3F-7C46-73FE03B9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225D13-787C-1167-14FB-3CCBF47D3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385549-B187-AC40-E39A-E553ECA04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598633-2B88-AB39-3FC1-0EDDF49F1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B424BD-F241-89ED-6FE4-AFB93D11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35E8C9-05C7-4B4B-837A-2D74CEC8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48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24D66-63D5-1043-C92A-88F86E6BE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46F5B4B-D39B-110F-CF46-569FD3ACF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B219B6-40F8-9920-9187-862760C09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8BA239-B6E9-A81D-3965-ADCBFE7B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B1A5AB-A7D8-BFA1-B07C-AD320A07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FBBF13-C3A2-531C-669A-47522C64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6951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86C57-F640-6AD9-FC4D-F3687337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0B1244-9D61-4C63-29F8-A74F8F935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30282C-82C6-B06E-ABFF-30425D4F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6339CB-04FD-CE11-0525-872F1E79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2AD2BF-4F32-AF3E-7A22-3469AC2E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87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A4F2190-94D2-7874-936A-18735D33F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173BE3-EAA4-30DC-095A-4EAF51421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8B7EEB-2EF6-F536-383D-464CA4E8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541B8-CAB9-5728-B984-77B9F629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A33A16-2BF8-8599-8DF4-6CE7C9BF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411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A992CD9-8282-75C0-61D8-746181DCC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2E3A4A-397B-8157-5393-29A6275CE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407D48-59A4-BDB7-970C-A342DBBE9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1DA66-1D79-4BFB-95FD-1AFE4488D3CA}" type="datetimeFigureOut">
              <a:rPr lang="de-DE" smtClean="0"/>
              <a:t>25.04.2025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4C1D19-3754-ED27-9153-D0EBD57D0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1A2DCA-BFA5-2055-6023-7273ACDB6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FDFBC-62C8-424F-BC12-EADB0623CCC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20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F0578-56C6-B59F-1D03-3CF9C2B4F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1803586"/>
          </a:xfrm>
        </p:spPr>
        <p:txBody>
          <a:bodyPr/>
          <a:lstStyle/>
          <a:p>
            <a:r>
              <a:rPr lang="de-DE" dirty="0"/>
              <a:t>Mobile App für Immobilieninserate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193D9C8-72F1-700B-5721-4FF71F62D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9270"/>
            <a:ext cx="9144000" cy="1655762"/>
          </a:xfrm>
        </p:spPr>
        <p:txBody>
          <a:bodyPr/>
          <a:lstStyle/>
          <a:p>
            <a:r>
              <a:rPr lang="de-DE" dirty="0"/>
              <a:t>So schnell wie möglich Nutzer gewinnen </a:t>
            </a:r>
          </a:p>
        </p:txBody>
      </p:sp>
    </p:spTree>
    <p:extLst>
      <p:ext uri="{BB962C8B-B14F-4D97-AF65-F5344CB8AC3E}">
        <p14:creationId xmlns:p14="http://schemas.microsoft.com/office/powerpoint/2010/main" val="361944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92AEC8-DC23-60A7-1DE6-218144D5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Problemdefinition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BFF384-B376-7925-6EFA-9ED55A6D2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83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000" b="1" dirty="0"/>
              <a:t>1. Intransparenter Immobilienmarkt </a:t>
            </a:r>
          </a:p>
          <a:p>
            <a:pPr marL="0" indent="0">
              <a:buNone/>
            </a:pPr>
            <a:r>
              <a:rPr lang="de-DE" sz="1800" dirty="0"/>
              <a:t>	- Preise sind weder standardisiert noch vergleichbar </a:t>
            </a:r>
          </a:p>
          <a:p>
            <a:pPr marL="0" indent="0">
              <a:buNone/>
            </a:pPr>
            <a:r>
              <a:rPr lang="de-DE" sz="1800" dirty="0"/>
              <a:t>	- Mieter/innen und Käufer/innen sind auf Makler, Facebook-Gruppen oder Aushänge angewiesen</a:t>
            </a:r>
          </a:p>
          <a:p>
            <a:pPr marL="0" indent="0">
              <a:buNone/>
            </a:pPr>
            <a:r>
              <a:rPr lang="de-DE" sz="1800" dirty="0"/>
              <a:t>	- keine zentrale verifizierte Plattform</a:t>
            </a:r>
          </a:p>
          <a:p>
            <a:pPr marL="342900" indent="-342900">
              <a:buAutoNum type="arabicPeriod" startAt="2"/>
            </a:pPr>
            <a:r>
              <a:rPr lang="de-DE" sz="1800" b="1" dirty="0"/>
              <a:t>Fehlender Zugang zu digitalen Lösungen</a:t>
            </a:r>
          </a:p>
          <a:p>
            <a:pPr marL="0" indent="0">
              <a:buNone/>
            </a:pPr>
            <a:r>
              <a:rPr lang="de-DE" sz="1800" b="1" dirty="0"/>
              <a:t>	</a:t>
            </a:r>
            <a:r>
              <a:rPr lang="de-DE" sz="1800" dirty="0"/>
              <a:t>-  Smartphone-Nutzung hoch, doch die Angebotslandschaft digital schwach ausgeprägt </a:t>
            </a:r>
          </a:p>
          <a:p>
            <a:pPr marL="0" indent="0">
              <a:buNone/>
            </a:pPr>
            <a:r>
              <a:rPr lang="de-DE" sz="1800" b="1" dirty="0"/>
              <a:t>	</a:t>
            </a:r>
            <a:r>
              <a:rPr lang="de-DE" sz="1800" dirty="0"/>
              <a:t>- Bestehende Portale bieten keine qualitative Optimierung (Filterung, Standortdienste)</a:t>
            </a:r>
          </a:p>
          <a:p>
            <a:pPr marL="0" indent="0">
              <a:buNone/>
            </a:pPr>
            <a:r>
              <a:rPr lang="de-DE" sz="1800" b="1" dirty="0"/>
              <a:t>3. Hohe Transaktionskosten und Betrugsrisiken</a:t>
            </a:r>
          </a:p>
          <a:p>
            <a:pPr marL="0" indent="0">
              <a:buNone/>
            </a:pPr>
            <a:r>
              <a:rPr lang="de-DE" sz="1800" dirty="0"/>
              <a:t>	- Angebote </a:t>
            </a:r>
            <a:r>
              <a:rPr lang="de-DE" sz="1800" dirty="0" err="1"/>
              <a:t>unverifiziert</a:t>
            </a:r>
            <a:r>
              <a:rPr lang="de-DE" sz="1800" dirty="0"/>
              <a:t> oder doppelt inseriert</a:t>
            </a:r>
          </a:p>
          <a:p>
            <a:pPr marL="0" indent="0">
              <a:buNone/>
            </a:pPr>
            <a:r>
              <a:rPr lang="de-DE" sz="1800" dirty="0"/>
              <a:t>	- Wichtige Informationen fehlen (z.B. Grundrisse, Eigentumsnachweise) </a:t>
            </a:r>
          </a:p>
          <a:p>
            <a:pPr marL="0" indent="0">
              <a:buNone/>
            </a:pPr>
            <a:r>
              <a:rPr lang="de-DE" sz="1800" b="1" dirty="0"/>
              <a:t>4. Kein standardisierter Zugang für Anbieter/innen</a:t>
            </a:r>
          </a:p>
          <a:p>
            <a:pPr marL="0" indent="0">
              <a:buNone/>
            </a:pPr>
            <a:r>
              <a:rPr lang="de-DE" sz="1800" dirty="0"/>
              <a:t>	- Kleinvermieter und Makler haben keine einfachen Tools um ihre Objekte digital zu listen</a:t>
            </a:r>
          </a:p>
          <a:p>
            <a:pPr marL="0" indent="0">
              <a:buNone/>
            </a:pPr>
            <a:r>
              <a:rPr lang="de-DE" sz="1800" dirty="0"/>
              <a:t>	- Verwaltung bleibt größtenteils manuell und offline </a:t>
            </a:r>
          </a:p>
          <a:p>
            <a:pPr marL="0" indent="0">
              <a:buNone/>
            </a:pP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407752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C5D76-049C-40F4-C5A9-892829083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Nutzerversprechen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C5CAD2-0749-A996-1C86-B74231BB6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de-DE" sz="2000" b="1" dirty="0"/>
              <a:t>Nutzen für Suchende (Mieter/innen / Käufer/innen)</a:t>
            </a:r>
          </a:p>
          <a:p>
            <a:pPr marL="0" indent="0">
              <a:buNone/>
            </a:pPr>
            <a:r>
              <a:rPr lang="de-DE" sz="1800" dirty="0"/>
              <a:t>	- Verifizierte Inserate – keine Fake-Angebote oder doppelte Inserate</a:t>
            </a:r>
          </a:p>
          <a:p>
            <a:pPr marL="0" indent="0">
              <a:buNone/>
            </a:pPr>
            <a:r>
              <a:rPr lang="de-DE" sz="1800" dirty="0"/>
              <a:t>	- Suche nach Stadtteil, Preis, Ausstattung und Standort </a:t>
            </a:r>
          </a:p>
          <a:p>
            <a:pPr marL="0" indent="0">
              <a:buNone/>
            </a:pPr>
            <a:r>
              <a:rPr lang="de-DE" sz="1800" dirty="0"/>
              <a:t>	- Bilder, Details &amp; Bewertungen direkt in der App</a:t>
            </a:r>
          </a:p>
          <a:p>
            <a:pPr marL="0" indent="0">
              <a:buNone/>
            </a:pPr>
            <a:r>
              <a:rPr lang="de-DE" sz="1800" dirty="0"/>
              <a:t>	- Einfach mobil nutzbar, keine umständliche Anmeldung nötig</a:t>
            </a:r>
          </a:p>
          <a:p>
            <a:pPr marL="0" indent="0">
              <a:buNone/>
            </a:pPr>
            <a:r>
              <a:rPr lang="de-DE" sz="1800" dirty="0"/>
              <a:t>	- Direkter Kontakt zum Anbieter (WhatsApp, In-App-Chat, Call)</a:t>
            </a:r>
          </a:p>
          <a:p>
            <a:pPr marL="0" indent="0">
              <a:buNone/>
            </a:pPr>
            <a:r>
              <a:rPr lang="de-DE" sz="1800" dirty="0"/>
              <a:t>	- Benachrichtigungen bei neuen passenden Angeboten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190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17FBF-7801-413A-EA12-482D4CF1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Nutzerversprechen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C95C9D-48D3-EFA7-33C4-1897EE4A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/>
              <a:t>2. Nutzen für Anbieter/innen (Vermieter/innen, Makler/innen)</a:t>
            </a:r>
          </a:p>
          <a:p>
            <a:pPr marL="0" indent="0">
              <a:buNone/>
            </a:pPr>
            <a:r>
              <a:rPr lang="de-DE" sz="1800" dirty="0"/>
              <a:t>	- Schnelles, kostenloses Inserieren</a:t>
            </a:r>
          </a:p>
          <a:p>
            <a:pPr marL="0" indent="0">
              <a:buNone/>
            </a:pPr>
            <a:r>
              <a:rPr lang="de-DE" sz="2000" dirty="0"/>
              <a:t>	</a:t>
            </a:r>
            <a:r>
              <a:rPr lang="de-DE" sz="1800" dirty="0"/>
              <a:t>- </a:t>
            </a:r>
            <a:r>
              <a:rPr lang="de-DE" sz="1800" dirty="0" err="1"/>
              <a:t>Verifizierungsbadge</a:t>
            </a:r>
            <a:r>
              <a:rPr lang="de-DE" sz="1800"/>
              <a:t>/ </a:t>
            </a:r>
            <a:r>
              <a:rPr lang="de-DE" sz="1800" dirty="0"/>
              <a:t>für mehr Vertrauen &amp; Sichtbarkeit</a:t>
            </a:r>
          </a:p>
          <a:p>
            <a:pPr marL="0" indent="0">
              <a:buNone/>
            </a:pPr>
            <a:r>
              <a:rPr lang="de-DE" sz="1800" dirty="0"/>
              <a:t>	- Dashboard für Objektstatus, Anfragen &amp; Performance</a:t>
            </a:r>
          </a:p>
          <a:p>
            <a:pPr marL="0" indent="0">
              <a:buNone/>
            </a:pPr>
            <a:r>
              <a:rPr lang="de-DE" sz="1800" dirty="0"/>
              <a:t>	- Mehrsprachig &amp; lokal ausgerichtet – passend zur Zielgruppe</a:t>
            </a:r>
          </a:p>
          <a:p>
            <a:pPr marL="0" indent="0">
              <a:buNone/>
            </a:pPr>
            <a:r>
              <a:rPr lang="de-DE" sz="1800" dirty="0"/>
              <a:t>	- Reichweite durch smarte Algorithmen &amp; Push- Benachrichtigungen </a:t>
            </a:r>
          </a:p>
        </p:txBody>
      </p:sp>
    </p:spTree>
    <p:extLst>
      <p:ext uri="{BB962C8B-B14F-4D97-AF65-F5344CB8AC3E}">
        <p14:creationId xmlns:p14="http://schemas.microsoft.com/office/powerpoint/2010/main" val="1144590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B99A2-CDAD-116A-B74B-C8E6B48F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Nutzerversprechen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E1924F-5735-3F86-8F10-EA95FABD8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/>
              <a:t>3. Warum unsere App besonders ist</a:t>
            </a:r>
          </a:p>
          <a:p>
            <a:pPr marL="0" indent="0">
              <a:buNone/>
            </a:pPr>
            <a:r>
              <a:rPr lang="de-DE" sz="2000" dirty="0"/>
              <a:t>	</a:t>
            </a:r>
            <a:r>
              <a:rPr lang="de-DE" sz="1800" dirty="0"/>
              <a:t>- </a:t>
            </a:r>
            <a:r>
              <a:rPr lang="de-DE" sz="1800" b="1" dirty="0"/>
              <a:t>Mobile-first</a:t>
            </a:r>
            <a:r>
              <a:rPr lang="de-DE" sz="1800" dirty="0"/>
              <a:t>: Optimiert für Regionen, in denen das Smartphone der Hauptkanal ist</a:t>
            </a:r>
          </a:p>
          <a:p>
            <a:pPr marL="0" indent="0">
              <a:buNone/>
            </a:pPr>
            <a:r>
              <a:rPr lang="de-DE" sz="1800" dirty="0"/>
              <a:t>	- </a:t>
            </a:r>
            <a:r>
              <a:rPr lang="de-DE" sz="1800" b="1" dirty="0"/>
              <a:t>Vertrauensbasiert</a:t>
            </a:r>
            <a:r>
              <a:rPr lang="de-DE" sz="1800" dirty="0"/>
              <a:t>: Verifizierungen, Nutzerbewertungen &amp; transparente Daten</a:t>
            </a:r>
          </a:p>
          <a:p>
            <a:pPr marL="0" indent="0">
              <a:buNone/>
            </a:pPr>
            <a:r>
              <a:rPr lang="de-DE" sz="1800" dirty="0"/>
              <a:t>	- </a:t>
            </a:r>
            <a:r>
              <a:rPr lang="de-DE" sz="1800" b="1" dirty="0"/>
              <a:t>Lokalisiert</a:t>
            </a:r>
            <a:r>
              <a:rPr lang="de-DE" sz="1800" dirty="0"/>
              <a:t>: App in Amharisch, Swahili &amp; Englisch – keine Importlösung aus dem Ausland</a:t>
            </a:r>
          </a:p>
          <a:p>
            <a:pPr marL="0" indent="0">
              <a:buNone/>
            </a:pPr>
            <a:r>
              <a:rPr lang="de-DE" sz="1800" dirty="0"/>
              <a:t>	- </a:t>
            </a:r>
            <a:r>
              <a:rPr lang="de-DE" sz="1800" b="1" dirty="0"/>
              <a:t>Integration mit Mobile-Payment (z.B. M-Pesa, </a:t>
            </a:r>
            <a:r>
              <a:rPr lang="de-DE" sz="1800" b="1" dirty="0" err="1"/>
              <a:t>Telebirr</a:t>
            </a:r>
            <a:r>
              <a:rPr lang="de-DE" sz="1800" b="1" dirty="0"/>
              <a:t>) </a:t>
            </a:r>
            <a:r>
              <a:rPr lang="de-DE" sz="1800" dirty="0"/>
              <a:t>für spätere Erweiterung</a:t>
            </a:r>
          </a:p>
          <a:p>
            <a:pPr marL="0" indent="0">
              <a:buNone/>
            </a:pPr>
            <a:r>
              <a:rPr lang="de-DE" sz="1800" dirty="0"/>
              <a:t>	- </a:t>
            </a:r>
            <a:r>
              <a:rPr lang="de-DE" sz="1800" b="1" dirty="0"/>
              <a:t>Grundlage für datenbasiertes Immobilienmanagement </a:t>
            </a:r>
            <a:r>
              <a:rPr lang="de-DE" sz="1800" dirty="0"/>
              <a:t>– über die Inserate hinaus</a:t>
            </a:r>
          </a:p>
        </p:txBody>
      </p:sp>
    </p:spTree>
    <p:extLst>
      <p:ext uri="{BB962C8B-B14F-4D97-AF65-F5344CB8AC3E}">
        <p14:creationId xmlns:p14="http://schemas.microsoft.com/office/powerpoint/2010/main" val="1948144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5A244-1446-D7BB-CB29-954A0130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E7A07F-D0B4-2912-4029-A56084E64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AutoNum type="arabicParenR"/>
            </a:pPr>
            <a:r>
              <a:rPr lang="de-DE" sz="2600" b="1" dirty="0"/>
              <a:t>Mieter/innen und Käufer/innen</a:t>
            </a:r>
          </a:p>
          <a:p>
            <a:pPr marL="0" indent="0">
              <a:buNone/>
            </a:pPr>
            <a:r>
              <a:rPr lang="de-DE" sz="2000" b="1" dirty="0"/>
              <a:t>	Merkmale :   	</a:t>
            </a:r>
            <a:r>
              <a:rPr lang="de-DE" sz="1800" b="1" dirty="0"/>
              <a:t>Alter</a:t>
            </a:r>
            <a:r>
              <a:rPr lang="de-DE" sz="2000" b="1" dirty="0"/>
              <a:t>: </a:t>
            </a:r>
            <a:r>
              <a:rPr lang="de-DE" sz="1800" dirty="0"/>
              <a:t>20-40 Jahre 						</a:t>
            </a:r>
          </a:p>
          <a:p>
            <a:pPr marL="0" indent="0">
              <a:buNone/>
            </a:pPr>
            <a:r>
              <a:rPr lang="de-DE" sz="1800" b="1" dirty="0"/>
              <a:t>			Beruf</a:t>
            </a:r>
            <a:r>
              <a:rPr lang="de-DE" sz="2000" b="1" dirty="0"/>
              <a:t>: </a:t>
            </a:r>
            <a:r>
              <a:rPr lang="de-DE" sz="1800" dirty="0"/>
              <a:t>Berufseinsteiger, Studierende, junge Familien, Expats</a:t>
            </a:r>
          </a:p>
          <a:p>
            <a:pPr marL="0" indent="0">
              <a:buNone/>
            </a:pPr>
            <a:r>
              <a:rPr lang="de-DE" sz="1800" b="1" dirty="0"/>
              <a:t>			Einkommen: </a:t>
            </a:r>
            <a:r>
              <a:rPr lang="de-DE" sz="1800" dirty="0"/>
              <a:t>Niedrig- bis mittleres Einkommen, in Städten zunehmend stabil</a:t>
            </a:r>
          </a:p>
          <a:p>
            <a:pPr marL="0" indent="0">
              <a:buNone/>
            </a:pPr>
            <a:r>
              <a:rPr lang="de-DE" sz="1800" dirty="0"/>
              <a:t>			</a:t>
            </a:r>
            <a:r>
              <a:rPr lang="de-DE" sz="1800" b="1" dirty="0"/>
              <a:t>Wohnort</a:t>
            </a:r>
            <a:r>
              <a:rPr lang="de-DE" sz="1800" dirty="0"/>
              <a:t>: Urban- v.a. Addis Abeba, Nairobi, Dar es Salaam</a:t>
            </a:r>
          </a:p>
          <a:p>
            <a:pPr marL="0" indent="0">
              <a:buNone/>
            </a:pPr>
            <a:r>
              <a:rPr lang="de-DE" sz="1800" dirty="0"/>
              <a:t>			</a:t>
            </a:r>
            <a:r>
              <a:rPr lang="de-DE" sz="1800" b="1" dirty="0"/>
              <a:t>Smartphonebesitz</a:t>
            </a:r>
            <a:r>
              <a:rPr lang="de-DE" sz="1800" dirty="0"/>
              <a:t>: Kenia 75%, Äthiopien 50%, Tansania 60%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/>
              <a:t>	</a:t>
            </a:r>
            <a:r>
              <a:rPr lang="de-DE" sz="1800" b="1" dirty="0"/>
              <a:t>Was sie brauchen </a:t>
            </a:r>
            <a:r>
              <a:rPr lang="de-DE" sz="1800" dirty="0"/>
              <a:t>:	- Verifizierte Angebote &amp; echte Bilder</a:t>
            </a:r>
          </a:p>
          <a:p>
            <a:pPr marL="0" indent="0">
              <a:buNone/>
            </a:pPr>
            <a:r>
              <a:rPr lang="de-DE" sz="1800" dirty="0"/>
              <a:t>				- Schnelle Filtersuche nach Lage, Preis, Ausstattung</a:t>
            </a:r>
          </a:p>
          <a:p>
            <a:pPr marL="0" indent="0">
              <a:buNone/>
            </a:pPr>
            <a:r>
              <a:rPr lang="de-DE" sz="1800" dirty="0"/>
              <a:t>				- Mobil optimierte, benutzerfreundliche Oberfläche</a:t>
            </a:r>
          </a:p>
          <a:p>
            <a:pPr marL="0" indent="0">
              <a:buNone/>
            </a:pPr>
            <a:r>
              <a:rPr lang="de-DE" sz="1800" dirty="0"/>
              <a:t>				- Benachrichtigungen bei neuen Angeboten</a:t>
            </a:r>
          </a:p>
          <a:p>
            <a:pPr marL="0" indent="0">
              <a:buNone/>
            </a:pPr>
            <a:r>
              <a:rPr lang="de-DE" sz="1800" dirty="0"/>
              <a:t>				- Möglichkeit, direkt zu kommunizieren (Chat/Call/</a:t>
            </a:r>
            <a:r>
              <a:rPr lang="de-DE" sz="1800" dirty="0" err="1"/>
              <a:t>Whatsapp</a:t>
            </a:r>
            <a:r>
              <a:rPr lang="de-DE" sz="1800" dirty="0"/>
              <a:t>)</a:t>
            </a:r>
          </a:p>
          <a:p>
            <a:pPr marL="0" indent="0">
              <a:buNone/>
            </a:pPr>
            <a:r>
              <a:rPr lang="de-DE" sz="1800" dirty="0"/>
              <a:t>			</a:t>
            </a:r>
          </a:p>
          <a:p>
            <a:pPr marL="0" indent="0">
              <a:buNone/>
            </a:pPr>
            <a:r>
              <a:rPr lang="de-DE" sz="18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386253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9B16A-F14E-4E6B-2F65-74701E94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91F672-8505-8190-36F4-B50E55C00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arenR" startAt="2"/>
            </a:pPr>
            <a:r>
              <a:rPr lang="de-DE" sz="2400" b="1" dirty="0"/>
              <a:t>Anbieter/innen (Vermieter/innen, Makler/innen, Hausverwalter)</a:t>
            </a:r>
          </a:p>
          <a:p>
            <a:pPr marL="0" indent="0">
              <a:buNone/>
            </a:pPr>
            <a:r>
              <a:rPr lang="de-DE" sz="2400" b="1" dirty="0"/>
              <a:t>	</a:t>
            </a:r>
            <a:r>
              <a:rPr lang="de-DE" sz="1800" b="1" dirty="0"/>
              <a:t>Merkmale :	</a:t>
            </a:r>
            <a:r>
              <a:rPr lang="de-DE" sz="1800" dirty="0"/>
              <a:t>Lokale Makler (formal &amp; informell), Vermieter/innen kleinerer Objekte</a:t>
            </a:r>
          </a:p>
          <a:p>
            <a:pPr marL="0" indent="0">
              <a:buNone/>
            </a:pPr>
            <a:r>
              <a:rPr lang="de-DE" sz="1800" b="1" dirty="0"/>
              <a:t>			</a:t>
            </a:r>
            <a:r>
              <a:rPr lang="de-DE" sz="1800" dirty="0"/>
              <a:t>Meist</a:t>
            </a:r>
            <a:r>
              <a:rPr lang="de-DE" sz="1800" b="1" dirty="0"/>
              <a:t> </a:t>
            </a:r>
            <a:r>
              <a:rPr lang="de-DE" sz="1800" dirty="0"/>
              <a:t>im Alter 30-60 Jahren</a:t>
            </a:r>
          </a:p>
          <a:p>
            <a:pPr marL="0" indent="0">
              <a:buNone/>
            </a:pPr>
            <a:r>
              <a:rPr lang="de-DE" sz="1800" b="1" dirty="0"/>
              <a:t>			</a:t>
            </a:r>
            <a:r>
              <a:rPr lang="de-DE" sz="1800" dirty="0"/>
              <a:t>Teilweise digitale</a:t>
            </a:r>
            <a:r>
              <a:rPr lang="de-DE" sz="1800" b="1" dirty="0"/>
              <a:t> </a:t>
            </a:r>
            <a:r>
              <a:rPr lang="de-DE" sz="1800" dirty="0"/>
              <a:t>Grundkenntnisse, aber oft ohne digitale Tools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1800" dirty="0"/>
              <a:t>	</a:t>
            </a:r>
            <a:r>
              <a:rPr lang="de-DE" sz="1800" b="1" dirty="0"/>
              <a:t>Was sie brauchen : 	- </a:t>
            </a:r>
            <a:r>
              <a:rPr lang="de-DE" sz="1800" dirty="0"/>
              <a:t>Einfache Möglichkeit zur </a:t>
            </a:r>
            <a:r>
              <a:rPr lang="de-DE" sz="1800" dirty="0" err="1"/>
              <a:t>Inseraterstellung</a:t>
            </a:r>
            <a:endParaRPr lang="de-DE" sz="1800" dirty="0"/>
          </a:p>
          <a:p>
            <a:pPr marL="0" indent="0">
              <a:buNone/>
            </a:pPr>
            <a:r>
              <a:rPr lang="de-DE" sz="1800" dirty="0"/>
              <a:t>				- Unterstützung bei Verifizierung &amp; Beschreibung</a:t>
            </a:r>
          </a:p>
          <a:p>
            <a:pPr marL="0" indent="0">
              <a:buNone/>
            </a:pPr>
            <a:r>
              <a:rPr lang="de-DE" sz="1800" dirty="0"/>
              <a:t>				- Tools zur Verwaltung von Anfragen</a:t>
            </a:r>
          </a:p>
          <a:p>
            <a:pPr marL="0" indent="0">
              <a:buNone/>
            </a:pPr>
            <a:r>
              <a:rPr lang="de-DE" sz="1800" dirty="0"/>
              <a:t>				- Dashboard mit Mietverlauf, Interesse, Reaktionen</a:t>
            </a:r>
          </a:p>
          <a:p>
            <a:pPr marL="0" indent="0">
              <a:buNone/>
            </a:pPr>
            <a:r>
              <a:rPr lang="de-DE" sz="1800" b="1" dirty="0"/>
              <a:t>				</a:t>
            </a:r>
            <a:r>
              <a:rPr lang="de-DE" sz="1800" dirty="0"/>
              <a:t>- Eventuell: Ausbaubare Tools für Verwaltung &amp; Wartung</a:t>
            </a:r>
            <a:r>
              <a:rPr lang="de-DE" sz="1800" b="1" dirty="0"/>
              <a:t>			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987285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5A7742-2927-F033-6923-19FAEB9E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1A7C4C-D56A-AC16-FFFF-CD595080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AutoNum type="arabicParenR" startAt="3"/>
            </a:pPr>
            <a:r>
              <a:rPr lang="de-DE" sz="2400" b="1" dirty="0"/>
              <a:t>Diaspora-Investor/innen &amp; internationale Fachkräfte</a:t>
            </a:r>
          </a:p>
          <a:p>
            <a:pPr marL="0" indent="0">
              <a:buNone/>
            </a:pPr>
            <a:r>
              <a:rPr lang="de-DE" sz="2400" b="1" dirty="0"/>
              <a:t>	</a:t>
            </a:r>
            <a:r>
              <a:rPr lang="de-DE" sz="1800" b="1" dirty="0"/>
              <a:t>Merkmale</a:t>
            </a:r>
            <a:r>
              <a:rPr lang="de-DE" sz="2400" dirty="0"/>
              <a:t> :	</a:t>
            </a:r>
            <a:r>
              <a:rPr lang="de-DE" sz="1800" b="1" dirty="0"/>
              <a:t>Alter: </a:t>
            </a:r>
            <a:r>
              <a:rPr lang="de-DE" sz="1800" dirty="0"/>
              <a:t>30-55 Jahre</a:t>
            </a:r>
            <a:r>
              <a:rPr lang="de-DE" sz="2400" b="1" dirty="0"/>
              <a:t>										</a:t>
            </a:r>
            <a:r>
              <a:rPr lang="de-DE" sz="1800" b="1" dirty="0"/>
              <a:t>Hintergrund: </a:t>
            </a:r>
            <a:r>
              <a:rPr lang="de-DE" sz="1800" dirty="0"/>
              <a:t>Ostafrikaner aus Europa, USA, Golfregion		</a:t>
            </a:r>
          </a:p>
          <a:p>
            <a:pPr marL="0" indent="0">
              <a:buNone/>
            </a:pPr>
            <a:r>
              <a:rPr lang="de-DE" sz="1800" dirty="0"/>
              <a:t>			</a:t>
            </a:r>
            <a:r>
              <a:rPr lang="de-DE" sz="1800" b="1" dirty="0"/>
              <a:t>Einkommen:</a:t>
            </a:r>
            <a:r>
              <a:rPr lang="de-DE" sz="1800" dirty="0"/>
              <a:t> Mittel- bis Oberschicht</a:t>
            </a:r>
          </a:p>
          <a:p>
            <a:pPr marL="0" indent="0">
              <a:buNone/>
            </a:pPr>
            <a:r>
              <a:rPr lang="de-DE" sz="1800" dirty="0"/>
              <a:t>			</a:t>
            </a:r>
            <a:r>
              <a:rPr lang="de-DE" sz="1800" b="1" dirty="0"/>
              <a:t>Motivation</a:t>
            </a:r>
            <a:r>
              <a:rPr lang="de-DE" sz="1800" dirty="0"/>
              <a:t>: Investition in Eigentum, Nutzung bei Rückkehr oder Vermietung</a:t>
            </a:r>
          </a:p>
          <a:p>
            <a:pPr marL="0" indent="0">
              <a:buNone/>
            </a:pPr>
            <a:r>
              <a:rPr lang="de-DE" sz="1800" dirty="0"/>
              <a:t>			</a:t>
            </a:r>
            <a:r>
              <a:rPr lang="de-DE" sz="1800" b="1" dirty="0"/>
              <a:t>Vertraut mit digitalen Tools, Banking, Immobilienplattform im Ausland</a:t>
            </a:r>
          </a:p>
          <a:p>
            <a:pPr marL="0" indent="0">
              <a:buNone/>
            </a:pPr>
            <a:r>
              <a:rPr lang="de-DE" sz="1800" b="1" dirty="0"/>
              <a:t>			Hoher Anspruch an Transparenz &amp; Sicherheit</a:t>
            </a:r>
          </a:p>
          <a:p>
            <a:pPr marL="0" indent="0">
              <a:buNone/>
            </a:pPr>
            <a:r>
              <a:rPr lang="de-DE" sz="1800" b="1" dirty="0"/>
              <a:t>			Benutzen bevorzugt mobile Apps mit guter UX</a:t>
            </a:r>
          </a:p>
          <a:p>
            <a:pPr marL="0" indent="0">
              <a:buNone/>
            </a:pPr>
            <a:endParaRPr lang="de-DE" sz="1800" b="1" dirty="0"/>
          </a:p>
          <a:p>
            <a:pPr marL="0" indent="0">
              <a:buNone/>
            </a:pPr>
            <a:r>
              <a:rPr lang="de-DE" sz="1800" b="1" dirty="0"/>
              <a:t>	Was sie brauchen :	- </a:t>
            </a:r>
            <a:r>
              <a:rPr lang="de-DE" sz="1800" dirty="0"/>
              <a:t>Verifizierte Objekte mit Dokumentprüfung</a:t>
            </a:r>
          </a:p>
          <a:p>
            <a:pPr marL="0" indent="0">
              <a:buNone/>
            </a:pPr>
            <a:r>
              <a:rPr lang="de-DE" sz="1800" dirty="0"/>
              <a:t>				- Mehrsprachige App (Englisch vorrangig)</a:t>
            </a:r>
          </a:p>
          <a:p>
            <a:pPr marL="0" indent="0">
              <a:buNone/>
            </a:pPr>
            <a:r>
              <a:rPr lang="de-DE" sz="1800" dirty="0"/>
              <a:t>				- Möglichkeit, Objekte remote zu besichtigen oder verwalten zu lassen</a:t>
            </a:r>
          </a:p>
          <a:p>
            <a:pPr marL="0" indent="0">
              <a:buNone/>
            </a:pPr>
            <a:r>
              <a:rPr lang="de-DE" sz="1800" dirty="0"/>
              <a:t>				- Integration mit mobile-Payment oder Treuhandlösungen</a:t>
            </a:r>
          </a:p>
          <a:p>
            <a:pPr marL="0" indent="0">
              <a:buNone/>
            </a:pPr>
            <a:r>
              <a:rPr lang="de-DE" sz="1800" dirty="0"/>
              <a:t>				- Option auf Zusatzleistungen (z.B. Property Management)</a:t>
            </a:r>
          </a:p>
        </p:txBody>
      </p:sp>
    </p:spTree>
    <p:extLst>
      <p:ext uri="{BB962C8B-B14F-4D97-AF65-F5344CB8AC3E}">
        <p14:creationId xmlns:p14="http://schemas.microsoft.com/office/powerpoint/2010/main" val="365516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7A9AA4-67A1-B6FE-2ADF-AD16EFF6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Zielgruppenanalyse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520B41-036E-7D22-15A5-613F8AA45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Wer steht im Zentrum ?</a:t>
            </a:r>
          </a:p>
          <a:p>
            <a:pPr marL="0" indent="0">
              <a:buNone/>
            </a:pPr>
            <a:r>
              <a:rPr lang="de-DE" sz="2000" b="1" dirty="0">
                <a:solidFill>
                  <a:srgbClr val="FF0000"/>
                </a:solidFill>
              </a:rPr>
              <a:t>Erst</a:t>
            </a:r>
            <a:r>
              <a:rPr lang="de-DE" sz="2000" b="1" dirty="0"/>
              <a:t>fokus für den MVP: 	</a:t>
            </a:r>
            <a:r>
              <a:rPr lang="de-DE" sz="2000" dirty="0"/>
              <a:t>- Junge Urbane Mieter/innen (20-35)</a:t>
            </a:r>
          </a:p>
          <a:p>
            <a:pPr marL="0" indent="0">
              <a:buNone/>
            </a:pPr>
            <a:r>
              <a:rPr lang="de-DE" sz="2000" dirty="0"/>
              <a:t>			- Kleinvermieter &amp; Makler, die schnell Reichweite brauchen</a:t>
            </a:r>
          </a:p>
          <a:p>
            <a:pPr marL="0" indent="0">
              <a:buNone/>
            </a:pPr>
            <a:r>
              <a:rPr lang="de-DE" sz="2000" dirty="0"/>
              <a:t>			- Diaspora-Investoren, die Vertrauen &amp; Remote-Verwaltung suchen</a:t>
            </a:r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b="1" dirty="0"/>
              <a:t>Warum ?</a:t>
            </a:r>
          </a:p>
          <a:p>
            <a:pPr marL="0" indent="0">
              <a:buNone/>
            </a:pPr>
            <a:r>
              <a:rPr lang="de-DE" sz="2000" dirty="0"/>
              <a:t>Diese Gruppen sind:	- am </a:t>
            </a:r>
            <a:r>
              <a:rPr lang="de-DE" sz="2000" dirty="0" err="1"/>
              <a:t>digitalsten</a:t>
            </a:r>
            <a:r>
              <a:rPr lang="de-DE" sz="2000" dirty="0"/>
              <a:t> unterwegs</a:t>
            </a:r>
          </a:p>
          <a:p>
            <a:pPr marL="0" indent="0">
              <a:buNone/>
            </a:pPr>
            <a:r>
              <a:rPr lang="de-DE" sz="2000" dirty="0"/>
              <a:t>			- am stärksten von Intransparenz betroffen</a:t>
            </a:r>
          </a:p>
          <a:p>
            <a:pPr marL="0" indent="0">
              <a:buNone/>
            </a:pPr>
            <a:r>
              <a:rPr lang="de-DE" sz="2000" dirty="0"/>
              <a:t>			- Am leichtesten gezielt erreichbar (Ads, Unis, Business-Netzwerke)</a:t>
            </a:r>
          </a:p>
          <a:p>
            <a:pPr marL="0" indent="0">
              <a:buNone/>
            </a:pPr>
            <a:r>
              <a:rPr lang="de-DE" sz="2000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3752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829EC-6261-FDC5-9BF0-67F0A922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B2D355-79E6-33F9-777F-81D0C86A0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 1) Marktumfeld &amp; Makrotrends</a:t>
            </a:r>
          </a:p>
          <a:p>
            <a:pPr marL="0" indent="0">
              <a:buNone/>
            </a:pPr>
            <a:r>
              <a:rPr lang="de-DE" b="1" dirty="0"/>
              <a:t>	</a:t>
            </a:r>
            <a:r>
              <a:rPr lang="de-DE" sz="2000" b="1" dirty="0"/>
              <a:t>Urbanisierung &amp; Wohnraumbedarf</a:t>
            </a:r>
          </a:p>
          <a:p>
            <a:pPr>
              <a:buFontTx/>
              <a:buChar char="-"/>
            </a:pPr>
            <a:r>
              <a:rPr lang="de-DE" sz="1800" dirty="0"/>
              <a:t>Addis Abeba, Nairobi und Dar es Salaam zählen zu den am schnellsten wachsenden Städten Afrikas</a:t>
            </a:r>
          </a:p>
          <a:p>
            <a:pPr>
              <a:buFontTx/>
              <a:buChar char="-"/>
            </a:pPr>
            <a:r>
              <a:rPr lang="de-DE" sz="1800" dirty="0"/>
              <a:t>Die Urbanisierungsraten liegen bei: Äthiopien 22%, Kenia 28%, Tansania 35%</a:t>
            </a:r>
          </a:p>
          <a:p>
            <a:pPr>
              <a:buFontTx/>
              <a:buChar char="-"/>
            </a:pPr>
            <a:r>
              <a:rPr lang="de-DE" sz="1800" dirty="0"/>
              <a:t>Prognose bis 2030: &gt;40-45% Urbanisierungsgrad in allen drei Ländern.</a:t>
            </a:r>
          </a:p>
          <a:p>
            <a:pPr>
              <a:buFontTx/>
              <a:buChar char="-"/>
            </a:pPr>
            <a:r>
              <a:rPr lang="de-DE" sz="1800" b="1" dirty="0"/>
              <a:t>Wohnraummangel besonders für junge Erwachsene und Mittelstand</a:t>
            </a:r>
          </a:p>
          <a:p>
            <a:pPr marL="0" indent="0">
              <a:buNone/>
            </a:pPr>
            <a:r>
              <a:rPr lang="de-DE" sz="1800" b="1" dirty="0"/>
              <a:t>	</a:t>
            </a:r>
          </a:p>
          <a:p>
            <a:pPr marL="0" indent="0">
              <a:buNone/>
            </a:pPr>
            <a:r>
              <a:rPr lang="de-DE" sz="1800" b="1" dirty="0"/>
              <a:t>	Demografischer Rückenwind</a:t>
            </a:r>
          </a:p>
          <a:p>
            <a:pPr>
              <a:buFontTx/>
              <a:buChar char="-"/>
            </a:pPr>
            <a:r>
              <a:rPr lang="de-DE" sz="1800" dirty="0"/>
              <a:t>Medianalter liegt bei 17-30 Jahren – sehr jung!</a:t>
            </a:r>
          </a:p>
          <a:p>
            <a:pPr>
              <a:buFontTx/>
              <a:buChar char="-"/>
            </a:pPr>
            <a:r>
              <a:rPr lang="de-DE" sz="1800" dirty="0">
                <a:sym typeface="Wingdings" panose="05000000000000000000" pitchFamily="2" charset="2"/>
              </a:rPr>
              <a:t> hoher Bedarf an Erstwohnungen, Studentenunterkünften und temporären Mieten.</a:t>
            </a:r>
          </a:p>
          <a:p>
            <a:pPr>
              <a:buFontTx/>
              <a:buChar char="-"/>
            </a:pPr>
            <a:r>
              <a:rPr lang="de-DE" sz="1800" dirty="0">
                <a:sym typeface="Wingdings" panose="05000000000000000000" pitchFamily="2" charset="2"/>
              </a:rPr>
              <a:t>Bevölkerungswachstum bis 2030: Äthiopien 140 </a:t>
            </a:r>
            <a:r>
              <a:rPr lang="de-DE" sz="1800" dirty="0" err="1">
                <a:sym typeface="Wingdings" panose="05000000000000000000" pitchFamily="2" charset="2"/>
              </a:rPr>
              <a:t>Mio</a:t>
            </a:r>
            <a:r>
              <a:rPr lang="de-DE" sz="1800" dirty="0">
                <a:sym typeface="Wingdings" panose="05000000000000000000" pitchFamily="2" charset="2"/>
              </a:rPr>
              <a:t>, Kenia 67 </a:t>
            </a:r>
            <a:r>
              <a:rPr lang="de-DE" sz="1800" dirty="0" err="1">
                <a:sym typeface="Wingdings" panose="05000000000000000000" pitchFamily="2" charset="2"/>
              </a:rPr>
              <a:t>Mio</a:t>
            </a:r>
            <a:r>
              <a:rPr lang="de-DE" sz="1800" dirty="0">
                <a:sym typeface="Wingdings" panose="05000000000000000000" pitchFamily="2" charset="2"/>
              </a:rPr>
              <a:t>, Tansania 80 </a:t>
            </a:r>
            <a:r>
              <a:rPr lang="de-DE" sz="1800" dirty="0" err="1">
                <a:sym typeface="Wingdings" panose="05000000000000000000" pitchFamily="2" charset="2"/>
              </a:rPr>
              <a:t>Mio</a:t>
            </a:r>
            <a:endParaRPr lang="de-DE" sz="1800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endParaRPr lang="de-DE" sz="100" b="1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5400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F3A05-4009-EA27-75F1-988B32C94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EB7C3AF-DEA1-6E34-5CBD-99225C028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2) Digitalisierung &amp; App-Nutzung</a:t>
            </a:r>
          </a:p>
          <a:p>
            <a:pPr marL="0" indent="0">
              <a:buNone/>
            </a:pPr>
            <a:endParaRPr lang="de-DE" b="1" dirty="0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C27360B3-8D53-EBF4-40E3-CCD8C8F8A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008313"/>
              </p:ext>
            </p:extLst>
          </p:nvPr>
        </p:nvGraphicFramePr>
        <p:xfrm>
          <a:off x="838200" y="2491740"/>
          <a:ext cx="10515600" cy="29032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5762110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712943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92252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1111749"/>
                    </a:ext>
                  </a:extLst>
                </a:gridCol>
              </a:tblGrid>
              <a:tr h="527858">
                <a:tc>
                  <a:txBody>
                    <a:bodyPr/>
                    <a:lstStyle/>
                    <a:p>
                      <a:r>
                        <a:rPr lang="de-DE"/>
                        <a:t>Kennzahl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Äthiopien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Kenia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Tansania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056441"/>
                  </a:ext>
                </a:extLst>
              </a:tr>
              <a:tr h="527858">
                <a:tc>
                  <a:txBody>
                    <a:bodyPr/>
                    <a:lstStyle/>
                    <a:p>
                      <a:r>
                        <a:rPr lang="de-DE"/>
                        <a:t>Smartphone-Nutzung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~45–50 %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~75 %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~55–60 %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485743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r>
                        <a:rPr lang="de-DE"/>
                        <a:t>Internetpenetration (urban)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~60 %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&gt;85 %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~70 %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066402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r>
                        <a:rPr lang="de-DE"/>
                        <a:t>Mobile Payment (z. B. M-Pesa)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schwach verbreitet (aber wachsend mit Telebirr)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hoch etabliert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hoch etabliert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031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84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88AE8-0FD9-74F9-EF90-CEF04181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885982-71F5-965E-BCB4-1431379EC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3) Wettbewerb (Stand 2024/25)</a:t>
            </a:r>
          </a:p>
          <a:p>
            <a:pPr marL="0" indent="0">
              <a:buNone/>
            </a:pPr>
            <a:endParaRPr lang="de-DE" b="1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6FEA135-0B85-BA65-0D3D-F61935D6A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827645"/>
              </p:ext>
            </p:extLst>
          </p:nvPr>
        </p:nvGraphicFramePr>
        <p:xfrm>
          <a:off x="838200" y="2434590"/>
          <a:ext cx="10515600" cy="312039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353045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184102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80300896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de-DE"/>
                        <a:t>Land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Wichtige Anbieter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Bewertung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47302"/>
                  </a:ext>
                </a:extLst>
              </a:tr>
              <a:tr h="780098">
                <a:tc>
                  <a:txBody>
                    <a:bodyPr/>
                    <a:lstStyle/>
                    <a:p>
                      <a:r>
                        <a:rPr lang="de-DE"/>
                        <a:t>Äthiopien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Bet Delala, Sarrbet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Regional bekannt, aber technisch schwach, keine Struktur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321735"/>
                  </a:ext>
                </a:extLst>
              </a:tr>
              <a:tr h="1114425">
                <a:tc>
                  <a:txBody>
                    <a:bodyPr/>
                    <a:lstStyle/>
                    <a:p>
                      <a:r>
                        <a:rPr lang="de-DE"/>
                        <a:t>Kenia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BuyRentKenya, Property24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Stärkere UX, große Datenbank, aber </a:t>
                      </a:r>
                      <a:r>
                        <a:rPr lang="de-DE" b="1"/>
                        <a:t>keine mobile-first-Verwaltung</a:t>
                      </a:r>
                      <a:endParaRPr lang="de-D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216371"/>
                  </a:ext>
                </a:extLst>
              </a:tr>
              <a:tr h="780098">
                <a:tc>
                  <a:txBody>
                    <a:bodyPr/>
                    <a:lstStyle/>
                    <a:p>
                      <a:r>
                        <a:rPr lang="de-DE"/>
                        <a:t>Tansania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ZoomTanzania, Kupatana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Mehr Kleinanzeigen-Charakter, wenig Filter &amp; Trust-Elemente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244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883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F4090F-98C3-57FB-E824-ABA6D0F80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1774C5-F40C-6FF8-6CE8-D377C0F7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650"/>
            <a:ext cx="10515600" cy="4405313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4) Marktpotenzial &amp; Größe</a:t>
            </a:r>
          </a:p>
          <a:p>
            <a:pPr marL="0" indent="0">
              <a:buNone/>
            </a:pPr>
            <a:r>
              <a:rPr lang="de-DE" sz="2400" b="1" dirty="0"/>
              <a:t>    </a:t>
            </a:r>
            <a:r>
              <a:rPr lang="de-DE" sz="2000" b="1" dirty="0"/>
              <a:t>Angebot</a:t>
            </a:r>
            <a:r>
              <a:rPr lang="de-DE" sz="2400" b="1" dirty="0"/>
              <a:t>:</a:t>
            </a:r>
          </a:p>
          <a:p>
            <a:pPr marL="0" indent="0">
              <a:buNone/>
            </a:pPr>
            <a:r>
              <a:rPr lang="de-DE" sz="1800" dirty="0"/>
              <a:t>	- Schätzungen zufolge gibt es: 5 </a:t>
            </a:r>
            <a:r>
              <a:rPr lang="de-DE" sz="1800" dirty="0" err="1"/>
              <a:t>Mio</a:t>
            </a:r>
            <a:r>
              <a:rPr lang="de-DE" sz="1800" dirty="0"/>
              <a:t> private Mietobjekte in Addis, Nairobi, Dar</a:t>
            </a:r>
          </a:p>
          <a:p>
            <a:pPr marL="0" indent="0">
              <a:buNone/>
            </a:pPr>
            <a:r>
              <a:rPr lang="de-DE" sz="1800" dirty="0"/>
              <a:t>				     &lt;10 % digital inseriert </a:t>
            </a:r>
            <a:r>
              <a:rPr lang="de-DE" sz="1800" dirty="0">
                <a:sym typeface="Wingdings" panose="05000000000000000000" pitchFamily="2" charset="2"/>
              </a:rPr>
              <a:t> </a:t>
            </a:r>
            <a:r>
              <a:rPr lang="de-DE" sz="1800" b="1" dirty="0">
                <a:sym typeface="Wingdings" panose="05000000000000000000" pitchFamily="2" charset="2"/>
              </a:rPr>
              <a:t>riesiges Digitalisierungspotenzial</a:t>
            </a:r>
          </a:p>
          <a:p>
            <a:pPr marL="0" indent="0">
              <a:buNone/>
            </a:pPr>
            <a:r>
              <a:rPr lang="de-DE" sz="1800" b="1" dirty="0">
                <a:sym typeface="Wingdings" panose="05000000000000000000" pitchFamily="2" charset="2"/>
              </a:rPr>
              <a:t>     </a:t>
            </a:r>
            <a:r>
              <a:rPr lang="de-DE" sz="2000" b="1" dirty="0">
                <a:sym typeface="Wingdings" panose="05000000000000000000" pitchFamily="2" charset="2"/>
              </a:rPr>
              <a:t>Nachfrage: </a:t>
            </a:r>
          </a:p>
          <a:p>
            <a:pPr marL="0" indent="0">
              <a:buNone/>
            </a:pPr>
            <a:r>
              <a:rPr lang="de-DE" sz="2000" b="1" dirty="0">
                <a:sym typeface="Wingdings" panose="05000000000000000000" pitchFamily="2" charset="2"/>
              </a:rPr>
              <a:t>	</a:t>
            </a:r>
            <a:r>
              <a:rPr lang="de-DE" sz="2000" dirty="0">
                <a:sym typeface="Wingdings" panose="05000000000000000000" pitchFamily="2" charset="2"/>
              </a:rPr>
              <a:t>- Geschätzte 2,5 </a:t>
            </a:r>
            <a:r>
              <a:rPr lang="de-DE" sz="2000" dirty="0" err="1">
                <a:sym typeface="Wingdings" panose="05000000000000000000" pitchFamily="2" charset="2"/>
              </a:rPr>
              <a:t>Mio</a:t>
            </a:r>
            <a:r>
              <a:rPr lang="de-DE" sz="2000" dirty="0">
                <a:sym typeface="Wingdings" panose="05000000000000000000" pitchFamily="2" charset="2"/>
              </a:rPr>
              <a:t>+ Miettransaktionen pro Jahr in den drei Hauptstädten</a:t>
            </a:r>
          </a:p>
          <a:p>
            <a:pPr marL="0" indent="0">
              <a:buNone/>
            </a:pPr>
            <a:r>
              <a:rPr lang="de-DE" sz="2000" dirty="0">
                <a:sym typeface="Wingdings" panose="05000000000000000000" pitchFamily="2" charset="2"/>
              </a:rPr>
              <a:t>	- Besonders hohe Suchvolumen bei jungen Erwachsenen &amp; Studierenden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704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23521-D628-98F4-F5AD-2962039B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55788C-1A2E-05C1-3CEA-C508401F2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5) Regulatorisches Umfeld</a:t>
            </a:r>
          </a:p>
          <a:p>
            <a:pPr marL="0" indent="0">
              <a:buNone/>
            </a:pPr>
            <a:endParaRPr lang="de-DE" b="1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BEAA156-65AD-5353-BC2F-B22D6D98C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933041"/>
              </p:ext>
            </p:extLst>
          </p:nvPr>
        </p:nvGraphicFramePr>
        <p:xfrm>
          <a:off x="838200" y="2538254"/>
          <a:ext cx="10515600" cy="321103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411404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58025678"/>
                    </a:ext>
                  </a:extLst>
                </a:gridCol>
              </a:tblGrid>
              <a:tr h="401380">
                <a:tc>
                  <a:txBody>
                    <a:bodyPr/>
                    <a:lstStyle/>
                    <a:p>
                      <a:r>
                        <a:rPr lang="de-DE"/>
                        <a:t>Bereich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Beobachtung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359036"/>
                  </a:ext>
                </a:extLst>
              </a:tr>
              <a:tr h="702414">
                <a:tc>
                  <a:txBody>
                    <a:bodyPr/>
                    <a:lstStyle/>
                    <a:p>
                      <a:r>
                        <a:rPr lang="de-DE"/>
                        <a:t>Eigentumsrechte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Einschränkungen für Ausländer in Äthiopien, in Kenia liberaler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622544"/>
                  </a:ext>
                </a:extLst>
              </a:tr>
              <a:tr h="702414">
                <a:tc>
                  <a:txBody>
                    <a:bodyPr/>
                    <a:lstStyle/>
                    <a:p>
                      <a:r>
                        <a:rPr lang="de-DE"/>
                        <a:t>Verbraucherschutz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App sollte </a:t>
                      </a:r>
                      <a:r>
                        <a:rPr lang="de-DE" b="1"/>
                        <a:t>klare AGB, Datenschutz und Nutzerrichtlinien</a:t>
                      </a:r>
                      <a:r>
                        <a:rPr lang="de-DE"/>
                        <a:t> enthalten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093683"/>
                  </a:ext>
                </a:extLst>
              </a:tr>
              <a:tr h="702414">
                <a:tc>
                  <a:txBody>
                    <a:bodyPr/>
                    <a:lstStyle/>
                    <a:p>
                      <a:r>
                        <a:rPr lang="de-DE"/>
                        <a:t>Zahlungsintegration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Technisch möglich, aber abhängig vom Anbieter (M-Pesa, Telebirr)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573919"/>
                  </a:ext>
                </a:extLst>
              </a:tr>
              <a:tr h="702414">
                <a:tc>
                  <a:txBody>
                    <a:bodyPr/>
                    <a:lstStyle/>
                    <a:p>
                      <a:r>
                        <a:rPr lang="de-DE"/>
                        <a:t>Plattformkontrolle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Gering – aktuell kaum staatliche Regulierungen im Plattformbereich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099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419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72B5E-7236-37B1-3A5A-13C2E719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Fazit der Marktanalyse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EF1B2B-A748-9405-A119-3E9FEB48C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	- </a:t>
            </a:r>
            <a:r>
              <a:rPr lang="de-DE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Timing ist ideal</a:t>
            </a:r>
            <a:r>
              <a:rPr lang="de-DE" b="1" dirty="0"/>
              <a:t>: </a:t>
            </a:r>
            <a:r>
              <a:rPr lang="de-DE" dirty="0"/>
              <a:t>Die Städte wachsen, die Zielgruppe ist jung 		und digital – </a:t>
            </a:r>
            <a:r>
              <a:rPr lang="de-DE" b="1" dirty="0"/>
              <a:t>aber der Markt ist technologisch 				unterentwickelt.</a:t>
            </a:r>
          </a:p>
          <a:p>
            <a:pPr marL="0" indent="0">
              <a:buNone/>
            </a:pPr>
            <a:r>
              <a:rPr lang="de-DE" b="1" dirty="0"/>
              <a:t>	- Eine </a:t>
            </a:r>
            <a:r>
              <a:rPr lang="de-DE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mobile App</a:t>
            </a:r>
            <a:r>
              <a:rPr lang="de-DE" b="1" dirty="0"/>
              <a:t> mit Fokus auf Vertrauen, Transparenz 			und direkter Interaktion </a:t>
            </a:r>
            <a:r>
              <a:rPr lang="de-DE" dirty="0"/>
              <a:t>trifft einen massiven Pain 			Point</a:t>
            </a:r>
          </a:p>
          <a:p>
            <a:pPr marL="0" indent="0">
              <a:buNone/>
            </a:pPr>
            <a:r>
              <a:rPr lang="de-DE" dirty="0"/>
              <a:t>	- </a:t>
            </a:r>
            <a:r>
              <a:rPr lang="de-DE" b="1" dirty="0"/>
              <a:t>Wettbewerb existiert, aber adressiert das Problem nur 			unvollständig </a:t>
            </a:r>
            <a:r>
              <a:rPr lang="de-DE" dirty="0">
                <a:sym typeface="Wingdings" panose="05000000000000000000" pitchFamily="2" charset="2"/>
              </a:rPr>
              <a:t> dein </a:t>
            </a:r>
            <a:r>
              <a:rPr lang="de-DE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Differenzierungspotenzial</a:t>
            </a:r>
            <a:r>
              <a:rPr lang="de-DE" dirty="0">
                <a:sym typeface="Wingdings" panose="05000000000000000000" pitchFamily="2" charset="2"/>
              </a:rPr>
              <a:t> ist 			hoch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7951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Microsoft Office PowerPoint</Application>
  <PresentationFormat>Breitbild</PresentationFormat>
  <Paragraphs>157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</vt:lpstr>
      <vt:lpstr>Mobile App für Immobilieninserate </vt:lpstr>
      <vt:lpstr>   Problemdefinition </vt:lpstr>
      <vt:lpstr>   Nutzerversprechen</vt:lpstr>
      <vt:lpstr>   Nutzerversprechen</vt:lpstr>
      <vt:lpstr>   Nutzerversprechen</vt:lpstr>
      <vt:lpstr>   Zielgruppenanalyse</vt:lpstr>
      <vt:lpstr>   Zielgruppenanalyse</vt:lpstr>
      <vt:lpstr>   Zielgruppenanalyse</vt:lpstr>
      <vt:lpstr>   Zielgruppenanalyse</vt:lpstr>
      <vt:lpstr>    Marktanalyse</vt:lpstr>
      <vt:lpstr>    Marktanalyse</vt:lpstr>
      <vt:lpstr>    Marktanalyse</vt:lpstr>
      <vt:lpstr>    Marktanalyse</vt:lpstr>
      <vt:lpstr>    Marktanalyse</vt:lpstr>
      <vt:lpstr>   Fazit der Marktanalyse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Nahom Mekbeb</dc:creator>
  <cp:lastModifiedBy>Nahom Mekbeb</cp:lastModifiedBy>
  <cp:revision>1</cp:revision>
  <dcterms:created xsi:type="dcterms:W3CDTF">2025-04-24T09:23:24Z</dcterms:created>
  <dcterms:modified xsi:type="dcterms:W3CDTF">2025-04-25T12:54:16Z</dcterms:modified>
</cp:coreProperties>
</file>